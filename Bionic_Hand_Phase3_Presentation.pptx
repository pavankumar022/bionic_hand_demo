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4.jpg" ContentType="image/jpg"/>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60" r:id="rId2"/>
    <p:sldId id="261" r:id="rId3"/>
    <p:sldId id="262" r:id="rId4"/>
    <p:sldId id="263" r:id="rId5"/>
    <p:sldId id="274" r:id="rId22"/>
    <p:sldId id="273" r:id="rId21"/>
    <p:sldId id="256" r:id="rId6"/>
    <p:sldId id="258" r:id="rId7"/>
    <p:sldId id="259" r:id="rId8"/>
    <p:sldId id="267" r:id="rId9"/>
    <p:sldId id="268" r:id="rId10"/>
    <p:sldId id="269" r:id="rId11"/>
    <p:sldId id="270" r:id="rId12"/>
    <p:sldId id="265" r:id="rId13"/>
    <p:sldId id="271" r:id="rId14"/>
    <p:sldId id="272"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  <Relationship Id="rId21" Type="http://schemas.openxmlformats.org/officeDocument/2006/relationships/slide" Target="slides/slide15.xml"/>
  <Relationship Id="rId22" Type="http://schemas.openxmlformats.org/officeDocument/2006/relationships/slide" Target="slides/slide16.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9922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sEMG measures the electrical activity produced when forearm muscles contract, using electrodes on the skin. Closing the hand activates the flexors, opening activates the extensors, so the pattern tells us the intended movement. The bottom row is the roadmap for the next four slides.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 detect when a gesture starts using a threshold above the resting baseline. Then a short window of the signal is converted into a few numbers. These four time-domain features are cheap to compute, which is why they suit real-time embedded hardware.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classifiers are used. The SVM splits the problem into simple yes/no decisions; the Gaussian kernel measures similarity between feature vectors. k-NN compares a new sample with stored training samples and takes a majority vote. A lock gesture makes the system ignore everything until unlocked, which prevents accidental movements.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jpg"/><Relationship Id="rId3" Type="http://schemas.openxmlformats.org/officeDocument/2006/relationships/image" Target="../media/image14.jpg"/><Relationship Id="rId4" Type="http://schemas.openxmlformats.org/officeDocument/2006/relationships/image" Target="../media/image15.jpg"/><Relationship Id="rId5" Type="http://schemas.openxmlformats.org/officeDocument/2006/relationships/image" Target="../media/image16.jpg"/><Relationship Id="rId6" Type="http://schemas.openxmlformats.org/officeDocument/2006/relationships/image" Target="../media/image17.jpg"/><Relationship Id="rId7" Type="http://schemas.openxmlformats.org/officeDocument/2006/relationships/image" Target="../media/image1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g-01.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EECEA"/>
        </a:solidFill>
        <a:effectLst/>
      </p:bgPr>
    </p:bg>
    <p:spTree>
      <p:nvGrpSpPr>
        <p:cNvPr id="1" name=""/>
        <p:cNvGrpSpPr/>
        <p:nvPr/>
      </p:nvGrpSpPr>
      <p:grpSpPr>
        <a:xfrm>
          <a:off x="0" y="0"/>
          <a:ext cx="0" cy="0"/>
          <a:chOff x="0" y="0"/>
          <a:chExt cx="0" cy="0"/>
        </a:xfrm>
      </p:grpSpPr>
      <p:sp>
        <p:nvSpPr>
          <p:cNvPr id="2" name="TextBox 1"/>
          <p:cNvSpPr txBox="1"/>
          <p:nvPr/>
        </p:nvSpPr>
        <p:spPr>
          <a:xfrm>
            <a:off x="411480" y="190500"/>
            <a:ext cx="2446020" cy="179069"/>
          </a:xfrm>
          <a:prstGeom prst="rect">
            <a:avLst/>
          </a:prstGeom>
          <a:noFill/>
        </p:spPr>
        <p:txBody>
          <a:bodyPr wrap="square" lIns="0" tIns="0" rIns="0" bIns="0" anchor="ctr">
            <a:spAutoFit/>
          </a:bodyPr>
          <a:lstStyle/>
          <a:p>
            <a:pPr algn="l"/>
            <a:r>
              <a:rPr sz="1275" b="1" i="0" spc="203">
                <a:solidFill>
                  <a:srgbClr val="0F7B84"/>
                </a:solidFill>
                <a:latin typeface="Times New Roman"/>
              </a:rPr>
              <a:t>AGENDA</a:t>
            </a:r>
          </a:p>
        </p:txBody>
      </p:sp>
      <p:sp>
        <p:nvSpPr>
          <p:cNvPr id="3" name="TextBox 2"/>
          <p:cNvSpPr txBox="1"/>
          <p:nvPr/>
        </p:nvSpPr>
        <p:spPr>
          <a:xfrm>
            <a:off x="411480" y="452437"/>
            <a:ext cx="4351020" cy="305752"/>
          </a:xfrm>
          <a:prstGeom prst="rect">
            <a:avLst/>
          </a:prstGeom>
          <a:noFill/>
        </p:spPr>
        <p:txBody>
          <a:bodyPr wrap="square" lIns="0" tIns="0" rIns="0" bIns="0" anchor="ctr">
            <a:spAutoFit/>
          </a:bodyPr>
          <a:lstStyle/>
          <a:p>
            <a:pPr algn="l"/>
            <a:r>
              <a:rPr sz="2175" b="1" i="0">
                <a:solidFill>
                  <a:srgbClr val="0F7B84"/>
                </a:solidFill>
                <a:latin typeface="Times New Roman"/>
              </a:rPr>
              <a:t>What we'll cover</a:t>
            </a:r>
          </a:p>
        </p:txBody>
      </p:sp>
      <p:sp>
        <p:nvSpPr>
          <p:cNvPr id="4" name="TextBox 4"/>
          <p:cNvSpPr txBox="1"/>
          <p:nvPr/>
        </p:nvSpPr>
        <p:spPr>
          <a:xfrm>
            <a:off x="342900" y="1151572"/>
            <a:ext cx="571500" cy="274320"/>
          </a:xfrm>
          <a:prstGeom prst="rect">
            <a:avLst/>
          </a:prstGeom>
          <a:noFill/>
        </p:spPr>
        <p:txBody>
          <a:bodyPr wrap="square" lIns="0" tIns="0" rIns="0" bIns="0" anchor="ctr">
            <a:spAutoFit/>
          </a:bodyPr>
          <a:lstStyle/>
          <a:p>
            <a:pPr algn="l"/>
            <a:r>
              <a:rPr sz="1950" b="1" i="0">
                <a:solidFill>
                  <a:srgbClr val="1B2540"/>
                </a:solidFill>
                <a:latin typeface="Times New Roman"/>
              </a:rPr>
              <a:t>01</a:t>
            </a:r>
          </a:p>
        </p:txBody>
      </p:sp>
      <p:sp>
        <p:nvSpPr>
          <p:cNvPr id="5" name="TextBox 5"/>
          <p:cNvSpPr txBox="1"/>
          <p:nvPr/>
        </p:nvSpPr>
        <p:spPr>
          <a:xfrm>
            <a:off x="925830" y="1203007"/>
            <a:ext cx="3190875" cy="171450"/>
          </a:xfrm>
          <a:prstGeom prst="rect">
            <a:avLst/>
          </a:prstGeom>
          <a:noFill/>
        </p:spPr>
        <p:txBody>
          <a:bodyPr wrap="square" lIns="0" tIns="0" rIns="0" bIns="0" anchor="ctr">
            <a:spAutoFit/>
          </a:bodyPr>
          <a:lstStyle/>
          <a:p>
            <a:pPr algn="l"/>
            <a:r>
              <a:rPr sz="1200" b="1" i="0">
                <a:solidFill>
                  <a:srgbClr val="1B2540"/>
                </a:solidFill>
                <a:latin typeface="Times New Roman"/>
              </a:rPr>
              <a:t>Introduction</a:t>
            </a:r>
          </a:p>
        </p:txBody>
      </p:sp>
      <p:cxnSp>
        <p:nvCxnSpPr>
          <p:cNvPr id="6" name="Connector 6"/>
          <p:cNvCxnSpPr/>
          <p:nvPr/>
        </p:nvCxnSpPr>
        <p:spPr>
          <a:xfrm>
            <a:off x="452437" y="1655445"/>
            <a:ext cx="3685223" cy="0"/>
          </a:xfrm>
          <a:prstGeom prst="line">
            <a:avLst/>
          </a:prstGeom>
          <a:ln w="11430">
            <a:solidFill>
              <a:srgbClr val="1B2540"/>
            </a:solidFill>
          </a:ln>
        </p:spPr>
        <p:style>
          <a:lnRef idx="2">
            <a:schemeClr val="accent1"/>
          </a:lnRef>
          <a:fillRef idx="0">
            <a:schemeClr val="accent1"/>
          </a:fillRef>
          <a:effectRef idx="1">
            <a:schemeClr val="accent1"/>
          </a:effectRef>
          <a:fontRef idx="minor">
            <a:schemeClr val="tx1"/>
          </a:fontRef>
        </p:style>
      </p:cxnSp>
      <p:sp>
        <p:nvSpPr>
          <p:cNvPr id="7" name="TextBox 7"/>
          <p:cNvSpPr txBox="1"/>
          <p:nvPr/>
        </p:nvSpPr>
        <p:spPr>
          <a:xfrm>
            <a:off x="342900" y="1940242"/>
            <a:ext cx="571500" cy="274320"/>
          </a:xfrm>
          <a:prstGeom prst="rect">
            <a:avLst/>
          </a:prstGeom>
          <a:noFill/>
        </p:spPr>
        <p:txBody>
          <a:bodyPr wrap="square" lIns="0" tIns="0" rIns="0" bIns="0" anchor="ctr">
            <a:spAutoFit/>
          </a:bodyPr>
          <a:lstStyle/>
          <a:p>
            <a:pPr algn="l"/>
            <a:r>
              <a:rPr sz="1950" b="1" i="0">
                <a:solidFill>
                  <a:srgbClr val="1B2540"/>
                </a:solidFill>
                <a:latin typeface="Times New Roman"/>
              </a:rPr>
              <a:t>02</a:t>
            </a:r>
          </a:p>
        </p:txBody>
      </p:sp>
      <p:sp>
        <p:nvSpPr>
          <p:cNvPr id="8" name="TextBox 8"/>
          <p:cNvSpPr txBox="1"/>
          <p:nvPr/>
        </p:nvSpPr>
        <p:spPr>
          <a:xfrm>
            <a:off x="925830" y="1991677"/>
            <a:ext cx="3190875" cy="171450"/>
          </a:xfrm>
          <a:prstGeom prst="rect">
            <a:avLst/>
          </a:prstGeom>
          <a:noFill/>
        </p:spPr>
        <p:txBody>
          <a:bodyPr wrap="square" lIns="0" tIns="0" rIns="0" bIns="0" anchor="ctr">
            <a:spAutoFit/>
          </a:bodyPr>
          <a:lstStyle/>
          <a:p>
            <a:pPr algn="l"/>
            <a:r>
              <a:rPr sz="1200" b="1" i="0">
                <a:solidFill>
                  <a:srgbClr val="1B2540"/>
                </a:solidFill>
                <a:latin typeface="Times New Roman"/>
              </a:rPr>
              <a:t>Problem Statement</a:t>
            </a:r>
          </a:p>
        </p:txBody>
      </p:sp>
      <p:cxnSp>
        <p:nvCxnSpPr>
          <p:cNvPr id="9" name="Connector 9"/>
          <p:cNvCxnSpPr/>
          <p:nvPr/>
        </p:nvCxnSpPr>
        <p:spPr>
          <a:xfrm>
            <a:off x="452437" y="2444115"/>
            <a:ext cx="3685223" cy="0"/>
          </a:xfrm>
          <a:prstGeom prst="line">
            <a:avLst/>
          </a:prstGeom>
          <a:ln w="11430">
            <a:solidFill>
              <a:srgbClr val="1B2540"/>
            </a:solidFill>
          </a:ln>
        </p:spPr>
        <p:style>
          <a:lnRef idx="2">
            <a:schemeClr val="accent1"/>
          </a:lnRef>
          <a:fillRef idx="0">
            <a:schemeClr val="accent1"/>
          </a:fillRef>
          <a:effectRef idx="1">
            <a:schemeClr val="accent1"/>
          </a:effectRef>
          <a:fontRef idx="minor">
            <a:schemeClr val="tx1"/>
          </a:fontRef>
        </p:style>
      </p:cxnSp>
      <p:sp>
        <p:nvSpPr>
          <p:cNvPr id="10" name="TextBox 10"/>
          <p:cNvSpPr txBox="1"/>
          <p:nvPr/>
        </p:nvSpPr>
        <p:spPr>
          <a:xfrm>
            <a:off x="342900" y="2728912"/>
            <a:ext cx="571500" cy="274320"/>
          </a:xfrm>
          <a:prstGeom prst="rect">
            <a:avLst/>
          </a:prstGeom>
          <a:noFill/>
        </p:spPr>
        <p:txBody>
          <a:bodyPr wrap="square" lIns="0" tIns="0" rIns="0" bIns="0" anchor="ctr">
            <a:spAutoFit/>
          </a:bodyPr>
          <a:lstStyle/>
          <a:p>
            <a:pPr algn="l"/>
            <a:r>
              <a:rPr sz="1950" b="1" i="0">
                <a:solidFill>
                  <a:srgbClr val="1B2540"/>
                </a:solidFill>
                <a:latin typeface="Times New Roman"/>
              </a:rPr>
              <a:t>03</a:t>
            </a:r>
          </a:p>
        </p:txBody>
      </p:sp>
      <p:sp>
        <p:nvSpPr>
          <p:cNvPr id="11" name="TextBox 11"/>
          <p:cNvSpPr txBox="1"/>
          <p:nvPr/>
        </p:nvSpPr>
        <p:spPr>
          <a:xfrm>
            <a:off x="925830" y="2780347"/>
            <a:ext cx="3190875" cy="171450"/>
          </a:xfrm>
          <a:prstGeom prst="rect">
            <a:avLst/>
          </a:prstGeom>
          <a:noFill/>
        </p:spPr>
        <p:txBody>
          <a:bodyPr wrap="square" lIns="0" tIns="0" rIns="0" bIns="0" anchor="ctr">
            <a:spAutoFit/>
          </a:bodyPr>
          <a:lstStyle/>
          <a:p>
            <a:pPr algn="l"/>
            <a:r>
              <a:rPr sz="1200" b="1" i="0">
                <a:solidFill>
                  <a:srgbClr val="1B2540"/>
                </a:solidFill>
                <a:latin typeface="Times New Roman"/>
              </a:rPr>
              <a:t>Hand Camera &amp; Grasp Selection</a:t>
            </a:r>
          </a:p>
        </p:txBody>
      </p:sp>
      <p:cxnSp>
        <p:nvCxnSpPr>
          <p:cNvPr id="12" name="Connector 12"/>
          <p:cNvCxnSpPr/>
          <p:nvPr/>
        </p:nvCxnSpPr>
        <p:spPr>
          <a:xfrm>
            <a:off x="452437" y="3232785"/>
            <a:ext cx="3685223" cy="0"/>
          </a:xfrm>
          <a:prstGeom prst="line">
            <a:avLst/>
          </a:prstGeom>
          <a:ln w="11430">
            <a:solidFill>
              <a:srgbClr val="1B2540"/>
            </a:solidFill>
          </a:ln>
        </p:spPr>
        <p:style>
          <a:lnRef idx="2">
            <a:schemeClr val="accent1"/>
          </a:lnRef>
          <a:fillRef idx="0">
            <a:schemeClr val="accent1"/>
          </a:fillRef>
          <a:effectRef idx="1">
            <a:schemeClr val="accent1"/>
          </a:effectRef>
          <a:fontRef idx="minor">
            <a:schemeClr val="tx1"/>
          </a:fontRef>
        </p:style>
      </p:cxnSp>
      <p:sp>
        <p:nvSpPr>
          <p:cNvPr id="13" name="TextBox 13"/>
          <p:cNvSpPr txBox="1"/>
          <p:nvPr/>
        </p:nvSpPr>
        <p:spPr>
          <a:xfrm>
            <a:off x="342900" y="3517582"/>
            <a:ext cx="571500" cy="274320"/>
          </a:xfrm>
          <a:prstGeom prst="rect">
            <a:avLst/>
          </a:prstGeom>
          <a:noFill/>
        </p:spPr>
        <p:txBody>
          <a:bodyPr wrap="square" lIns="0" tIns="0" rIns="0" bIns="0" anchor="ctr">
            <a:spAutoFit/>
          </a:bodyPr>
          <a:lstStyle/>
          <a:p>
            <a:pPr algn="l"/>
            <a:r>
              <a:rPr sz="1950" b="1" i="0">
                <a:solidFill>
                  <a:srgbClr val="1B2540"/>
                </a:solidFill>
                <a:latin typeface="Times New Roman"/>
              </a:rPr>
              <a:t>04</a:t>
            </a:r>
          </a:p>
        </p:txBody>
      </p:sp>
      <p:sp>
        <p:nvSpPr>
          <p:cNvPr id="14" name="TextBox 14"/>
          <p:cNvSpPr txBox="1"/>
          <p:nvPr/>
        </p:nvSpPr>
        <p:spPr>
          <a:xfrm>
            <a:off x="925830" y="3569017"/>
            <a:ext cx="3190875" cy="171450"/>
          </a:xfrm>
          <a:prstGeom prst="rect">
            <a:avLst/>
          </a:prstGeom>
          <a:noFill/>
        </p:spPr>
        <p:txBody>
          <a:bodyPr wrap="square" lIns="0" tIns="0" rIns="0" bIns="0" anchor="ctr">
            <a:spAutoFit/>
          </a:bodyPr>
          <a:lstStyle/>
          <a:p>
            <a:pPr algn="l"/>
            <a:r>
              <a:rPr sz="1200" b="1" i="0">
                <a:solidFill>
                  <a:srgbClr val="1B2540"/>
                </a:solidFill>
                <a:latin typeface="Times New Roman"/>
              </a:rPr>
              <a:t>Surface EMG Signal Processing</a:t>
            </a:r>
          </a:p>
        </p:txBody>
      </p:sp>
      <p:cxnSp>
        <p:nvCxnSpPr>
          <p:cNvPr id="15" name="Connector 15"/>
          <p:cNvCxnSpPr/>
          <p:nvPr/>
        </p:nvCxnSpPr>
        <p:spPr>
          <a:xfrm>
            <a:off x="452437" y="4021455"/>
            <a:ext cx="3685223" cy="0"/>
          </a:xfrm>
          <a:prstGeom prst="line">
            <a:avLst/>
          </a:prstGeom>
          <a:ln w="11430">
            <a:solidFill>
              <a:srgbClr val="1B2540"/>
            </a:solidFill>
          </a:ln>
        </p:spPr>
        <p:style>
          <a:lnRef idx="2">
            <a:schemeClr val="accent1"/>
          </a:lnRef>
          <a:fillRef idx="0">
            <a:schemeClr val="accent1"/>
          </a:fillRef>
          <a:effectRef idx="1">
            <a:schemeClr val="accent1"/>
          </a:effectRef>
          <a:fontRef idx="minor">
            <a:schemeClr val="tx1"/>
          </a:fontRef>
        </p:style>
      </p:cxnSp>
      <p:sp>
        <p:nvSpPr>
          <p:cNvPr id="16" name="TextBox 16"/>
          <p:cNvSpPr txBox="1"/>
          <p:nvPr/>
        </p:nvSpPr>
        <p:spPr>
          <a:xfrm>
            <a:off x="342900" y="4306252"/>
            <a:ext cx="571500" cy="274320"/>
          </a:xfrm>
          <a:prstGeom prst="rect">
            <a:avLst/>
          </a:prstGeom>
          <a:noFill/>
        </p:spPr>
        <p:txBody>
          <a:bodyPr wrap="square" lIns="0" tIns="0" rIns="0" bIns="0" anchor="ctr">
            <a:spAutoFit/>
          </a:bodyPr>
          <a:lstStyle/>
          <a:p>
            <a:pPr algn="l"/>
            <a:r>
              <a:rPr sz="1950" b="1" i="0">
                <a:solidFill>
                  <a:srgbClr val="1B2540"/>
                </a:solidFill>
                <a:latin typeface="Times New Roman"/>
              </a:rPr>
              <a:t>05</a:t>
            </a:r>
          </a:p>
        </p:txBody>
      </p:sp>
      <p:sp>
        <p:nvSpPr>
          <p:cNvPr id="17" name="TextBox 17"/>
          <p:cNvSpPr txBox="1"/>
          <p:nvPr/>
        </p:nvSpPr>
        <p:spPr>
          <a:xfrm>
            <a:off x="925830" y="4357687"/>
            <a:ext cx="3190875" cy="171450"/>
          </a:xfrm>
          <a:prstGeom prst="rect">
            <a:avLst/>
          </a:prstGeom>
          <a:noFill/>
        </p:spPr>
        <p:txBody>
          <a:bodyPr wrap="square" lIns="0" tIns="0" rIns="0" bIns="0" anchor="ctr">
            <a:spAutoFit/>
          </a:bodyPr>
          <a:lstStyle/>
          <a:p>
            <a:pPr algn="l"/>
            <a:r>
              <a:rPr sz="1200" b="1" i="0">
                <a:solidFill>
                  <a:srgbClr val="1B2540"/>
                </a:solidFill>
                <a:latin typeface="Times New Roman"/>
              </a:rPr>
              <a:t>Proposed Methodology</a:t>
            </a:r>
          </a:p>
        </p:txBody>
      </p:sp>
      <p:sp>
        <p:nvSpPr>
          <p:cNvPr id="18" name="TextBox 18"/>
          <p:cNvSpPr txBox="1"/>
          <p:nvPr/>
        </p:nvSpPr>
        <p:spPr>
          <a:xfrm>
            <a:off x="4594860" y="1151572"/>
            <a:ext cx="571500" cy="274320"/>
          </a:xfrm>
          <a:prstGeom prst="rect">
            <a:avLst/>
          </a:prstGeom>
          <a:noFill/>
        </p:spPr>
        <p:txBody>
          <a:bodyPr wrap="square" lIns="0" tIns="0" rIns="0" bIns="0" anchor="ctr">
            <a:spAutoFit/>
          </a:bodyPr>
          <a:lstStyle/>
          <a:p>
            <a:pPr algn="l"/>
            <a:r>
              <a:rPr sz="1950" b="1" i="0">
                <a:solidFill>
                  <a:srgbClr val="1B2540"/>
                </a:solidFill>
                <a:latin typeface="Times New Roman"/>
              </a:rPr>
              <a:t>06</a:t>
            </a:r>
          </a:p>
        </p:txBody>
      </p:sp>
      <p:sp>
        <p:nvSpPr>
          <p:cNvPr id="19" name="TextBox 19"/>
          <p:cNvSpPr txBox="1"/>
          <p:nvPr/>
        </p:nvSpPr>
        <p:spPr>
          <a:xfrm>
            <a:off x="5177790" y="1203007"/>
            <a:ext cx="3190875" cy="171450"/>
          </a:xfrm>
          <a:prstGeom prst="rect">
            <a:avLst/>
          </a:prstGeom>
          <a:noFill/>
        </p:spPr>
        <p:txBody>
          <a:bodyPr wrap="square" lIns="0" tIns="0" rIns="0" bIns="0" anchor="ctr">
            <a:spAutoFit/>
          </a:bodyPr>
          <a:lstStyle/>
          <a:p>
            <a:pPr algn="l"/>
            <a:r>
              <a:rPr sz="1200" b="1" i="0">
                <a:solidFill>
                  <a:srgbClr val="1B2540"/>
                </a:solidFill>
                <a:latin typeface="Times New Roman"/>
              </a:rPr>
              <a:t>Hardware Requirements</a:t>
            </a:r>
          </a:p>
        </p:txBody>
      </p:sp>
      <p:cxnSp>
        <p:nvCxnSpPr>
          <p:cNvPr id="20" name="Connector 20"/>
          <p:cNvCxnSpPr/>
          <p:nvPr/>
        </p:nvCxnSpPr>
        <p:spPr>
          <a:xfrm>
            <a:off x="4703445" y="1655445"/>
            <a:ext cx="3681412" cy="0"/>
          </a:xfrm>
          <a:prstGeom prst="line">
            <a:avLst/>
          </a:prstGeom>
          <a:ln w="11430">
            <a:solidFill>
              <a:srgbClr val="1B2540"/>
            </a:solidFill>
          </a:ln>
        </p:spPr>
        <p:style>
          <a:lnRef idx="2">
            <a:schemeClr val="accent1"/>
          </a:lnRef>
          <a:fillRef idx="0">
            <a:schemeClr val="accent1"/>
          </a:fillRef>
          <a:effectRef idx="1">
            <a:schemeClr val="accent1"/>
          </a:effectRef>
          <a:fontRef idx="minor">
            <a:schemeClr val="tx1"/>
          </a:fontRef>
        </p:style>
      </p:cxnSp>
      <p:sp>
        <p:nvSpPr>
          <p:cNvPr id="21" name="TextBox 21"/>
          <p:cNvSpPr txBox="1"/>
          <p:nvPr/>
        </p:nvSpPr>
        <p:spPr>
          <a:xfrm>
            <a:off x="4594860" y="1940242"/>
            <a:ext cx="571500" cy="274320"/>
          </a:xfrm>
          <a:prstGeom prst="rect">
            <a:avLst/>
          </a:prstGeom>
          <a:noFill/>
        </p:spPr>
        <p:txBody>
          <a:bodyPr wrap="square" lIns="0" tIns="0" rIns="0" bIns="0" anchor="ctr">
            <a:spAutoFit/>
          </a:bodyPr>
          <a:lstStyle/>
          <a:p>
            <a:pPr algn="l"/>
            <a:r>
              <a:rPr sz="1950" b="1" i="0">
                <a:solidFill>
                  <a:srgbClr val="1B2540"/>
                </a:solidFill>
                <a:latin typeface="Times New Roman"/>
              </a:rPr>
              <a:t>07</a:t>
            </a:r>
          </a:p>
        </p:txBody>
      </p:sp>
      <p:sp>
        <p:nvSpPr>
          <p:cNvPr id="22" name="TextBox 22"/>
          <p:cNvSpPr txBox="1"/>
          <p:nvPr/>
        </p:nvSpPr>
        <p:spPr>
          <a:xfrm>
            <a:off x="5177790" y="1991677"/>
            <a:ext cx="3190875" cy="171450"/>
          </a:xfrm>
          <a:prstGeom prst="rect">
            <a:avLst/>
          </a:prstGeom>
          <a:noFill/>
        </p:spPr>
        <p:txBody>
          <a:bodyPr wrap="square" lIns="0" tIns="0" rIns="0" bIns="0" anchor="ctr">
            <a:spAutoFit/>
          </a:bodyPr>
          <a:lstStyle/>
          <a:p>
            <a:pPr algn="l"/>
            <a:r>
              <a:rPr sz="1200" b="1" i="0">
                <a:solidFill>
                  <a:srgbClr val="1B2540"/>
                </a:solidFill>
                <a:latin typeface="Times New Roman"/>
              </a:rPr>
              <a:t>Software Requirements</a:t>
            </a:r>
          </a:p>
        </p:txBody>
      </p:sp>
      <p:cxnSp>
        <p:nvCxnSpPr>
          <p:cNvPr id="23" name="Connector 23"/>
          <p:cNvCxnSpPr/>
          <p:nvPr/>
        </p:nvCxnSpPr>
        <p:spPr>
          <a:xfrm>
            <a:off x="4703445" y="2444115"/>
            <a:ext cx="3681412" cy="0"/>
          </a:xfrm>
          <a:prstGeom prst="line">
            <a:avLst/>
          </a:prstGeom>
          <a:ln w="11430">
            <a:solidFill>
              <a:srgbClr val="1B2540"/>
            </a:solidFill>
          </a:ln>
        </p:spPr>
        <p:style>
          <a:lnRef idx="2">
            <a:schemeClr val="accent1"/>
          </a:lnRef>
          <a:fillRef idx="0">
            <a:schemeClr val="accent1"/>
          </a:fillRef>
          <a:effectRef idx="1">
            <a:schemeClr val="accent1"/>
          </a:effectRef>
          <a:fontRef idx="minor">
            <a:schemeClr val="tx1"/>
          </a:fontRef>
        </p:style>
      </p:cxnSp>
      <p:sp>
        <p:nvSpPr>
          <p:cNvPr id="24" name="TextBox 24"/>
          <p:cNvSpPr txBox="1"/>
          <p:nvPr/>
        </p:nvSpPr>
        <p:spPr>
          <a:xfrm>
            <a:off x="4594860" y="2728912"/>
            <a:ext cx="571500" cy="274320"/>
          </a:xfrm>
          <a:prstGeom prst="rect">
            <a:avLst/>
          </a:prstGeom>
          <a:noFill/>
        </p:spPr>
        <p:txBody>
          <a:bodyPr wrap="square" lIns="0" tIns="0" rIns="0" bIns="0" anchor="ctr">
            <a:spAutoFit/>
          </a:bodyPr>
          <a:lstStyle/>
          <a:p>
            <a:pPr algn="l"/>
            <a:r>
              <a:rPr sz="1950" b="1" i="0">
                <a:solidFill>
                  <a:srgbClr val="1B2540"/>
                </a:solidFill>
                <a:latin typeface="Times New Roman"/>
              </a:rPr>
              <a:t>08</a:t>
            </a:r>
          </a:p>
        </p:txBody>
      </p:sp>
      <p:sp>
        <p:nvSpPr>
          <p:cNvPr id="25" name="TextBox 25"/>
          <p:cNvSpPr txBox="1"/>
          <p:nvPr/>
        </p:nvSpPr>
        <p:spPr>
          <a:xfrm>
            <a:off x="5177790" y="2780347"/>
            <a:ext cx="3190875" cy="171450"/>
          </a:xfrm>
          <a:prstGeom prst="rect">
            <a:avLst/>
          </a:prstGeom>
          <a:noFill/>
        </p:spPr>
        <p:txBody>
          <a:bodyPr wrap="square" lIns="0" tIns="0" rIns="0" bIns="0" anchor="ctr">
            <a:spAutoFit/>
          </a:bodyPr>
          <a:lstStyle/>
          <a:p>
            <a:pPr algn="l"/>
            <a:r>
              <a:rPr sz="1200" b="1" i="0">
                <a:solidFill>
                  <a:srgbClr val="1B2540"/>
                </a:solidFill>
                <a:latin typeface="Times New Roman"/>
              </a:rPr>
              <a:t>Expected Outcomes</a:t>
            </a:r>
          </a:p>
        </p:txBody>
      </p:sp>
      <p:cxnSp>
        <p:nvCxnSpPr>
          <p:cNvPr id="26" name="Connector 26"/>
          <p:cNvCxnSpPr/>
          <p:nvPr/>
        </p:nvCxnSpPr>
        <p:spPr>
          <a:xfrm>
            <a:off x="4703445" y="3232785"/>
            <a:ext cx="3681412" cy="0"/>
          </a:xfrm>
          <a:prstGeom prst="line">
            <a:avLst/>
          </a:prstGeom>
          <a:ln w="11430">
            <a:solidFill>
              <a:srgbClr val="1B2540"/>
            </a:solidFill>
          </a:ln>
        </p:spPr>
        <p:style>
          <a:lnRef idx="2">
            <a:schemeClr val="accent1"/>
          </a:lnRef>
          <a:fillRef idx="0">
            <a:schemeClr val="accent1"/>
          </a:fillRef>
          <a:effectRef idx="1">
            <a:schemeClr val="accent1"/>
          </a:effectRef>
          <a:fontRef idx="minor">
            <a:schemeClr val="tx1"/>
          </a:fontRef>
        </p:style>
      </p:cxnSp>
      <p:sp>
        <p:nvSpPr>
          <p:cNvPr id="27" name="TextBox 27"/>
          <p:cNvSpPr txBox="1"/>
          <p:nvPr/>
        </p:nvSpPr>
        <p:spPr>
          <a:xfrm>
            <a:off x="4594860" y="3517582"/>
            <a:ext cx="571500" cy="274320"/>
          </a:xfrm>
          <a:prstGeom prst="rect">
            <a:avLst/>
          </a:prstGeom>
          <a:noFill/>
        </p:spPr>
        <p:txBody>
          <a:bodyPr wrap="square" lIns="0" tIns="0" rIns="0" bIns="0" anchor="ctr">
            <a:spAutoFit/>
          </a:bodyPr>
          <a:lstStyle/>
          <a:p>
            <a:pPr algn="l"/>
            <a:r>
              <a:rPr sz="1950" b="1" i="0">
                <a:solidFill>
                  <a:srgbClr val="1B2540"/>
                </a:solidFill>
                <a:latin typeface="Times New Roman"/>
              </a:rPr>
              <a:t>09</a:t>
            </a:r>
          </a:p>
        </p:txBody>
      </p:sp>
      <p:sp>
        <p:nvSpPr>
          <p:cNvPr id="28" name="TextBox 28"/>
          <p:cNvSpPr txBox="1"/>
          <p:nvPr/>
        </p:nvSpPr>
        <p:spPr>
          <a:xfrm>
            <a:off x="5177790" y="3569017"/>
            <a:ext cx="3190875" cy="171450"/>
          </a:xfrm>
          <a:prstGeom prst="rect">
            <a:avLst/>
          </a:prstGeom>
          <a:noFill/>
        </p:spPr>
        <p:txBody>
          <a:bodyPr wrap="square" lIns="0" tIns="0" rIns="0" bIns="0" anchor="ctr">
            <a:spAutoFit/>
          </a:bodyPr>
          <a:lstStyle/>
          <a:p>
            <a:pPr algn="l"/>
            <a:r>
              <a:rPr sz="1200" b="1" i="0">
                <a:solidFill>
                  <a:srgbClr val="1B2540"/>
                </a:solidFill>
                <a:latin typeface="Times New Roman"/>
              </a:rPr>
              <a:t>Literature Review</a:t>
            </a:r>
          </a:p>
        </p:txBody>
      </p:sp>
      <p:cxnSp>
        <p:nvCxnSpPr>
          <p:cNvPr id="29" name="Connector 29"/>
          <p:cNvCxnSpPr/>
          <p:nvPr/>
        </p:nvCxnSpPr>
        <p:spPr>
          <a:xfrm>
            <a:off x="4703445" y="4021455"/>
            <a:ext cx="3681412" cy="0"/>
          </a:xfrm>
          <a:prstGeom prst="line">
            <a:avLst/>
          </a:prstGeom>
          <a:ln w="11430">
            <a:solidFill>
              <a:srgbClr val="1B2540"/>
            </a:solidFill>
          </a:ln>
        </p:spPr>
        <p:style>
          <a:lnRef idx="2">
            <a:schemeClr val="accent1"/>
          </a:lnRef>
          <a:fillRef idx="0">
            <a:schemeClr val="accent1"/>
          </a:fillRef>
          <a:effectRef idx="1">
            <a:schemeClr val="accent1"/>
          </a:effectRef>
          <a:fontRef idx="minor">
            <a:schemeClr val="tx1"/>
          </a:fontRef>
        </p:style>
      </p:cxnSp>
      <p:sp>
        <p:nvSpPr>
          <p:cNvPr id="30" name="TextBox 30"/>
          <p:cNvSpPr txBox="1"/>
          <p:nvPr/>
        </p:nvSpPr>
        <p:spPr>
          <a:xfrm>
            <a:off x="4594860" y="4306252"/>
            <a:ext cx="571500" cy="274320"/>
          </a:xfrm>
          <a:prstGeom prst="rect">
            <a:avLst/>
          </a:prstGeom>
          <a:noFill/>
        </p:spPr>
        <p:txBody>
          <a:bodyPr wrap="square" lIns="0" tIns="0" rIns="0" bIns="0" anchor="ctr">
            <a:spAutoFit/>
          </a:bodyPr>
          <a:lstStyle/>
          <a:p>
            <a:pPr algn="l"/>
            <a:r>
              <a:rPr sz="1950" b="1" i="0">
                <a:solidFill>
                  <a:srgbClr val="1B2540"/>
                </a:solidFill>
                <a:latin typeface="Times New Roman"/>
              </a:rPr>
              <a:t>10</a:t>
            </a:r>
          </a:p>
        </p:txBody>
      </p:sp>
      <p:sp>
        <p:nvSpPr>
          <p:cNvPr id="31" name="TextBox 31"/>
          <p:cNvSpPr txBox="1"/>
          <p:nvPr/>
        </p:nvSpPr>
        <p:spPr>
          <a:xfrm>
            <a:off x="5177790" y="4357687"/>
            <a:ext cx="3190875" cy="171450"/>
          </a:xfrm>
          <a:prstGeom prst="rect">
            <a:avLst/>
          </a:prstGeom>
          <a:noFill/>
        </p:spPr>
        <p:txBody>
          <a:bodyPr wrap="square" lIns="0" tIns="0" rIns="0" bIns="0" anchor="ctr">
            <a:spAutoFit/>
          </a:bodyPr>
          <a:lstStyle/>
          <a:p>
            <a:pPr algn="l"/>
            <a:r>
              <a:rPr sz="1200" b="1" i="0">
                <a:solidFill>
                  <a:srgbClr val="1B2540"/>
                </a:solidFill>
                <a:latin typeface="Times New Roman"/>
              </a:rPr>
              <a:t>References</a:t>
            </a:r>
          </a:p>
        </p:txBody>
      </p:sp>
      <p:sp>
        <p:nvSpPr>
          <p:cNvPr id="32" name="TextBox 32"/>
          <p:cNvSpPr txBox="1"/>
          <p:nvPr/>
        </p:nvSpPr>
        <p:spPr>
          <a:xfrm>
            <a:off x="342900" y="4911090"/>
            <a:ext cx="3467100" cy="95250"/>
          </a:xfrm>
          <a:prstGeom prst="rect">
            <a:avLst/>
          </a:prstGeom>
          <a:noFill/>
        </p:spPr>
        <p:txBody>
          <a:bodyPr wrap="square" lIns="0" tIns="0" rIns="0" bIns="0" anchor="ctr">
            <a:spAutoFit/>
          </a:bodyPr>
          <a:lstStyle/>
          <a:p>
            <a:pPr algn="l"/>
            <a:r>
              <a:rPr sz="675" b="0" i="0" spc="74">
                <a:solidFill>
                  <a:srgbClr val="1B2540"/>
                </a:solidFill>
                <a:latin typeface="Times New Roman"/>
              </a:rPr>
              <a:t>THOUGHT-CONTROLLED BIONIC HAND</a:t>
            </a:r>
          </a:p>
        </p:txBody>
      </p:sp>
      <p:sp>
        <p:nvSpPr>
          <p:cNvPr id="33" name="TextBox 33"/>
          <p:cNvSpPr txBox="1"/>
          <p:nvPr/>
        </p:nvSpPr>
        <p:spPr>
          <a:xfrm>
            <a:off x="8191500" y="4911090"/>
            <a:ext cx="602932" cy="95250"/>
          </a:xfrm>
          <a:prstGeom prst="rect">
            <a:avLst/>
          </a:prstGeom>
          <a:noFill/>
        </p:spPr>
        <p:txBody>
          <a:bodyPr wrap="square" lIns="0" tIns="0" rIns="0" bIns="0" anchor="ctr">
            <a:spAutoFit/>
          </a:bodyPr>
          <a:lstStyle/>
          <a:p>
            <a:pPr algn="r"/>
            <a:r>
              <a:rPr sz="675" b="0" i="0">
                <a:solidFill>
                  <a:srgbClr val="1B2540"/>
                </a:solidFill>
                <a:latin typeface="Times New Roman"/>
              </a:rPr>
              <a:t>02 / 16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g-03.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8515350" y="4881562"/>
            <a:ext cx="352425" cy="152400"/>
          </a:xfrm>
          <a:prstGeom prst="rect">
            <a:avLst/>
          </a:prstGeom>
          <a:solidFill>
            <a:srgbClr val="FE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191500" y="4911090"/>
            <a:ext cx="602932" cy="95250"/>
          </a:xfrm>
          <a:prstGeom prst="rect">
            <a:avLst/>
          </a:prstGeom>
          <a:noFill/>
        </p:spPr>
        <p:txBody>
          <a:bodyPr wrap="square" lIns="0" tIns="0" rIns="0" bIns="0" anchor="ctr">
            <a:spAutoFit/>
          </a:bodyPr>
          <a:lstStyle/>
          <a:p>
            <a:pPr algn="r"/>
            <a:r>
              <a:rPr sz="675" b="0" i="0">
                <a:solidFill>
                  <a:srgbClr val="1B2540"/>
                </a:solidFill>
                <a:latin typeface="Times New Roman"/>
              </a:rPr>
              <a:t>03 / 16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g-04.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8515350" y="4881562"/>
            <a:ext cx="352425" cy="152400"/>
          </a:xfrm>
          <a:prstGeom prst="rect">
            <a:avLst/>
          </a:prstGeom>
          <a:solidFill>
            <a:srgbClr val="FE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191500" y="4911090"/>
            <a:ext cx="602932" cy="95250"/>
          </a:xfrm>
          <a:prstGeom prst="rect">
            <a:avLst/>
          </a:prstGeom>
          <a:noFill/>
        </p:spPr>
        <p:txBody>
          <a:bodyPr wrap="square" lIns="0" tIns="0" rIns="0" bIns="0" anchor="ctr">
            <a:spAutoFit/>
          </a:bodyPr>
          <a:lstStyle/>
          <a:p>
            <a:pPr algn="r"/>
            <a:r>
              <a:rPr sz="675" b="0" i="0">
                <a:solidFill>
                  <a:srgbClr val="1B2540"/>
                </a:solidFill>
                <a:latin typeface="Times New Roman"/>
              </a:rPr>
              <a:t>04 / 16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FFEBE8"/>
        </a:solidFill>
        <a:effectLst/>
      </p:bgPr>
    </p:bg>
    <p:spTree>
      <p:nvGrpSpPr>
        <p:cNvPr id="1" name=""/>
        <p:cNvGrpSpPr/>
        <p:nvPr/>
      </p:nvGrpSpPr>
      <p:grpSpPr>
        <a:xfrm>
          <a:off x="0" y="0"/>
          <a:ext cx="0" cy="0"/>
          <a:chOff x="0" y="0"/>
          <a:chExt cx="0" cy="0"/>
        </a:xfrm>
      </p:grpSpPr>
      <p:sp>
        <p:nvSpPr>
          <p:cNvPr id="2" name="Text 0"/>
          <p:cNvSpPr txBox="1"/>
          <p:nvPr/>
        </p:nvSpPr>
        <p:spPr>
          <a:xfrm>
            <a:off x="457200" y="182880"/>
            <a:ext cx="5486400" cy="228600"/>
          </a:xfrm>
          <a:prstGeom prst="rect">
            <a:avLst/>
          </a:prstGeom>
          <a:noFill/>
          <a:ln/>
        </p:spPr>
        <p:txBody>
          <a:bodyPr wrap="square" lIns="0" tIns="0" rIns="0" bIns="0" rtlCol="0" anchor="ctr"/>
          <a:lstStyle/>
          <a:p>
            <a:pPr marL="0" indent="0">
              <a:buNone/>
            </a:pPr>
            <a:r>
              <a:rPr lang="en-US" sz="1100" b="1" kern="0" spc="400" dirty="0">
                <a:solidFill>
                  <a:srgbClr val="0F7B84"/>
                </a:solidFill>
                <a:latin typeface="Calibri" pitchFamily="34" charset="0"/>
                <a:ea typeface="Calibri" pitchFamily="34" charset="-122"/>
                <a:cs typeface="Calibri" pitchFamily="34" charset="-120"/>
              </a:rPr>
              <a:t>SECTION 04</a:t>
            </a:r>
            <a:endParaRPr lang="en-US" sz="1100" dirty="0"/>
          </a:p>
        </p:txBody>
      </p:sp>
      <p:sp>
        <p:nvSpPr>
          <p:cNvPr id="3" name="Text 1"/>
          <p:cNvSpPr txBox="1"/>
          <p:nvPr/>
        </p:nvSpPr>
        <p:spPr>
          <a:xfrm>
            <a:off x="457200" y="411480"/>
            <a:ext cx="8229600" cy="548640"/>
          </a:xfrm>
          <a:prstGeom prst="rect">
            <a:avLst/>
          </a:prstGeom>
          <a:noFill/>
          <a:ln/>
        </p:spPr>
        <p:txBody>
          <a:bodyPr wrap="square" lIns="0" tIns="0" rIns="0" bIns="0" rtlCol="0" anchor="ctr"/>
          <a:lstStyle/>
          <a:p>
            <a:pPr marL="0" indent="0">
              <a:buNone/>
            </a:pPr>
            <a:r>
              <a:rPr lang="en-US" sz="2400" b="1" dirty="0">
                <a:solidFill>
                  <a:srgbClr val="0F7B84"/>
                </a:solidFill>
                <a:latin typeface="Georgia" pitchFamily="34" charset="0"/>
                <a:ea typeface="Georgia" pitchFamily="34" charset="-122"/>
                <a:cs typeface="Georgia" pitchFamily="34" charset="-120"/>
              </a:rPr>
              <a:t>Surface EMG: Reading the Muscle Signal</a:t>
            </a:r>
            <a:endParaRPr lang="en-US" sz="2400" dirty="0"/>
          </a:p>
        </p:txBody>
      </p:sp>
      <p:sp>
        <p:nvSpPr>
          <p:cNvPr id="4" name="Text 2"/>
          <p:cNvSpPr txBox="1"/>
          <p:nvPr/>
        </p:nvSpPr>
        <p:spPr>
          <a:xfrm>
            <a:off x="457200" y="4846320"/>
            <a:ext cx="3657600" cy="201168"/>
          </a:xfrm>
          <a:prstGeom prst="rect">
            <a:avLst/>
          </a:prstGeom>
          <a:noFill/>
          <a:ln/>
        </p:spPr>
        <p:txBody>
          <a:bodyPr wrap="square" lIns="0" tIns="0" rIns="0" bIns="0" rtlCol="0" anchor="ctr"/>
          <a:lstStyle/>
          <a:p>
            <a:pPr marL="0" indent="0">
              <a:buNone/>
            </a:pPr>
            <a:r>
              <a:rPr lang="en-US" sz="800" dirty="0">
                <a:solidFill>
                  <a:srgbClr val="1B2540"/>
                </a:solidFill>
                <a:latin typeface="Calibri" pitchFamily="34" charset="0"/>
                <a:ea typeface="Calibri" pitchFamily="34" charset="-122"/>
                <a:cs typeface="Calibri" pitchFamily="34" charset="-120"/>
              </a:rPr>
              <a:t>THOUGHT-CONTROLLED BIONIC HAND</a:t>
            </a:r>
            <a:endParaRPr lang="en-US" sz="800" dirty="0"/>
          </a:p>
        </p:txBody>
      </p:sp>
      <p:sp>
        <p:nvSpPr>
          <p:cNvPr id="5" name="Text 3"/>
          <p:cNvSpPr txBox="1"/>
          <p:nvPr/>
        </p:nvSpPr>
        <p:spPr>
          <a:xfrm>
            <a:off x="7772400" y="4846320"/>
            <a:ext cx="914400" cy="201168"/>
          </a:xfrm>
          <a:prstGeom prst="rect">
            <a:avLst/>
          </a:prstGeom>
          <a:noFill/>
          <a:ln/>
        </p:spPr>
        <p:txBody>
          <a:bodyPr wrap="square" lIns="0" tIns="0" rIns="0" bIns="0" rtlCol="0" anchor="ctr"/>
          <a:lstStyle/>
          <a:p>
            <a:pPr marL="0" indent="0" algn="r">
              <a:buNone/>
            </a:pPr>
            <a:r>
              <a:rPr lang="en-US" sz="800" dirty="0">
                <a:solidFill>
                  <a:srgbClr val="1B2540"/>
                </a:solidFill>
                <a:latin typeface="Calibri" pitchFamily="34" charset="0"/>
                <a:ea typeface="Calibri" pitchFamily="34" charset="-122"/>
                <a:cs typeface="Calibri" pitchFamily="34" charset="-120"/>
              </a:rPr>
              <a:t>07 / 16</a:t>
            </a:r>
            <a:endParaRPr lang="en-US" sz="800" dirty="0"/>
          </a:p>
        </p:txBody>
      </p:sp>
      <p:sp>
        <p:nvSpPr>
          <p:cNvPr id="6" name="Text 4"/>
          <p:cNvSpPr txBox="1"/>
          <p:nvPr/>
        </p:nvSpPr>
        <p:spPr>
          <a:xfrm>
            <a:off x="3931920" y="4846320"/>
            <a:ext cx="3749040" cy="201168"/>
          </a:xfrm>
          <a:prstGeom prst="rect">
            <a:avLst/>
          </a:prstGeom>
          <a:noFill/>
          <a:ln/>
        </p:spPr>
        <p:txBody>
          <a:bodyPr wrap="square" lIns="0" tIns="0" rIns="0" bIns="0" rtlCol="0" anchor="ctr"/>
          <a:lstStyle/>
          <a:p>
            <a:pPr marL="0" indent="0" algn="r">
              <a:buNone/>
            </a:pPr>
            <a:r>
              <a:rPr lang="en-US" sz="750" i="1" dirty="0">
                <a:solidFill>
                  <a:srgbClr val="1B2540"/>
                </a:solidFill>
                <a:latin typeface="Calibri" pitchFamily="34" charset="0"/>
                <a:ea typeface="Calibri" pitchFamily="34" charset="-122"/>
                <a:cs typeface="Calibri" pitchFamily="34" charset="-120"/>
              </a:rPr>
              <a:t>Photo: Tavakoli et al., 2017</a:t>
            </a:r>
            <a:endParaRPr lang="en-US" sz="750" dirty="0"/>
          </a:p>
        </p:txBody>
      </p:sp>
      <p:pic>
        <p:nvPicPr>
          <p:cNvPr id="8" name="Image 0" descr="/home/claude/img/forearm.jpg"/>
          <p:cNvPicPr>
            <a:picLocks noChangeAspect="1"/>
          </p:cNvPicPr>
          <p:nvPr/>
        </p:nvPicPr>
        <p:blipFill>
          <a:blip r:embed="rId3"/>
          <a:stretch>
            <a:fillRect/>
          </a:stretch>
        </p:blipFill>
        <p:spPr>
          <a:xfrm>
            <a:off x="457200" y="1143000"/>
            <a:ext cx="2221992" cy="2788920"/>
          </a:xfrm>
          <a:prstGeom prst="rect">
            <a:avLst/>
          </a:prstGeom>
        </p:spPr>
      </p:pic>
      <p:sp>
        <p:nvSpPr>
          <p:cNvPr id="9" name="Shape 5"/>
          <p:cNvSpPr/>
          <p:nvPr/>
        </p:nvSpPr>
        <p:spPr>
          <a:xfrm>
            <a:off x="3017520" y="1188720"/>
            <a:ext cx="457200" cy="457200"/>
          </a:xfrm>
          <a:prstGeom prst="ellipse">
            <a:avLst/>
          </a:prstGeom>
          <a:solidFill>
            <a:srgbClr val="E85D4F"/>
          </a:solidFill>
          <a:ln w="12700">
            <a:solidFill>
              <a:srgbClr val="E85D4F"/>
            </a:solidFill>
            <a:prstDash val="solid"/>
          </a:ln>
        </p:spPr>
        <p:txBody>
          <a:bodyPr/>
          <a:lstStyle/>
          <a:p>
            <a:endParaRPr lang="en-IN"/>
          </a:p>
        </p:txBody>
      </p:sp>
      <p:sp>
        <p:nvSpPr>
          <p:cNvPr id="10" name="Text 6"/>
          <p:cNvSpPr txBox="1"/>
          <p:nvPr/>
        </p:nvSpPr>
        <p:spPr>
          <a:xfrm>
            <a:off x="3017520" y="11887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1" name="Text 7"/>
          <p:cNvSpPr txBox="1"/>
          <p:nvPr/>
        </p:nvSpPr>
        <p:spPr>
          <a:xfrm>
            <a:off x="3657600" y="1188720"/>
            <a:ext cx="5029200" cy="274320"/>
          </a:xfrm>
          <a:prstGeom prst="rect">
            <a:avLst/>
          </a:prstGeom>
          <a:noFill/>
          <a:ln/>
        </p:spPr>
        <p:txBody>
          <a:bodyPr wrap="square" lIns="0" tIns="0" rIns="0" bIns="0" rtlCol="0" anchor="t"/>
          <a:lstStyle/>
          <a:p>
            <a:pPr marL="0" indent="0">
              <a:buNone/>
            </a:pPr>
            <a:r>
              <a:rPr lang="en-US" sz="1500" b="1" dirty="0">
                <a:solidFill>
                  <a:srgbClr val="1B2540"/>
                </a:solidFill>
                <a:latin typeface="Georgia" pitchFamily="34" charset="0"/>
                <a:ea typeface="Georgia" pitchFamily="34" charset="-122"/>
                <a:cs typeface="Georgia" pitchFamily="34" charset="-120"/>
              </a:rPr>
              <a:t>Non-invasive</a:t>
            </a:r>
            <a:endParaRPr lang="en-US" sz="1500" dirty="0"/>
          </a:p>
        </p:txBody>
      </p:sp>
      <p:sp>
        <p:nvSpPr>
          <p:cNvPr id="12" name="Text 8"/>
          <p:cNvSpPr txBox="1"/>
          <p:nvPr/>
        </p:nvSpPr>
        <p:spPr>
          <a:xfrm>
            <a:off x="3657600" y="1499616"/>
            <a:ext cx="5029200" cy="457200"/>
          </a:xfrm>
          <a:prstGeom prst="rect">
            <a:avLst/>
          </a:prstGeom>
          <a:noFill/>
          <a:ln/>
        </p:spPr>
        <p:txBody>
          <a:bodyPr wrap="square" lIns="0" tIns="0" rIns="0" bIns="0" rtlCol="0" anchor="t"/>
          <a:lstStyle/>
          <a:p>
            <a:pPr marL="0" indent="0">
              <a:buNone/>
            </a:pPr>
            <a:r>
              <a:rPr lang="en-US" sz="1150" dirty="0">
                <a:solidFill>
                  <a:srgbClr val="1B2540"/>
                </a:solidFill>
                <a:latin typeface="Calibri" pitchFamily="34" charset="0"/>
                <a:ea typeface="Calibri" pitchFamily="34" charset="-122"/>
                <a:cs typeface="Calibri" pitchFamily="34" charset="-120"/>
              </a:rPr>
              <a:t>Electrodes on the skin record muscle activity, with no surgery.</a:t>
            </a:r>
            <a:endParaRPr lang="en-US" sz="1150" dirty="0"/>
          </a:p>
        </p:txBody>
      </p:sp>
      <p:sp>
        <p:nvSpPr>
          <p:cNvPr id="13" name="Shape 9"/>
          <p:cNvSpPr/>
          <p:nvPr/>
        </p:nvSpPr>
        <p:spPr>
          <a:xfrm>
            <a:off x="3017520" y="2121408"/>
            <a:ext cx="457200" cy="457200"/>
          </a:xfrm>
          <a:prstGeom prst="ellipse">
            <a:avLst/>
          </a:prstGeom>
          <a:solidFill>
            <a:srgbClr val="E85D4F"/>
          </a:solidFill>
          <a:ln w="12700">
            <a:solidFill>
              <a:srgbClr val="E85D4F"/>
            </a:solidFill>
            <a:prstDash val="solid"/>
          </a:ln>
        </p:spPr>
        <p:txBody>
          <a:bodyPr/>
          <a:lstStyle/>
          <a:p>
            <a:endParaRPr lang="en-IN"/>
          </a:p>
        </p:txBody>
      </p:sp>
      <p:sp>
        <p:nvSpPr>
          <p:cNvPr id="14" name="Text 10"/>
          <p:cNvSpPr txBox="1"/>
          <p:nvPr/>
        </p:nvSpPr>
        <p:spPr>
          <a:xfrm>
            <a:off x="3017520" y="212140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1"/>
          <p:cNvSpPr txBox="1"/>
          <p:nvPr/>
        </p:nvSpPr>
        <p:spPr>
          <a:xfrm>
            <a:off x="3657600" y="2121408"/>
            <a:ext cx="5029200" cy="274320"/>
          </a:xfrm>
          <a:prstGeom prst="rect">
            <a:avLst/>
          </a:prstGeom>
          <a:noFill/>
          <a:ln/>
        </p:spPr>
        <p:txBody>
          <a:bodyPr wrap="square" lIns="0" tIns="0" rIns="0" bIns="0" rtlCol="0" anchor="t"/>
          <a:lstStyle/>
          <a:p>
            <a:pPr marL="0" indent="0">
              <a:buNone/>
            </a:pPr>
            <a:r>
              <a:rPr lang="en-US" sz="1500" b="1" dirty="0">
                <a:solidFill>
                  <a:srgbClr val="1B2540"/>
                </a:solidFill>
                <a:latin typeface="Georgia" pitchFamily="34" charset="0"/>
                <a:ea typeface="Georgia" pitchFamily="34" charset="-122"/>
                <a:cs typeface="Georgia" pitchFamily="34" charset="-120"/>
              </a:rPr>
              <a:t>Natural control</a:t>
            </a:r>
            <a:endParaRPr lang="en-US" sz="1500" dirty="0"/>
          </a:p>
        </p:txBody>
      </p:sp>
      <p:sp>
        <p:nvSpPr>
          <p:cNvPr id="16" name="Text 12"/>
          <p:cNvSpPr txBox="1"/>
          <p:nvPr/>
        </p:nvSpPr>
        <p:spPr>
          <a:xfrm>
            <a:off x="3657600" y="2432304"/>
            <a:ext cx="5029200" cy="457200"/>
          </a:xfrm>
          <a:prstGeom prst="rect">
            <a:avLst/>
          </a:prstGeom>
          <a:noFill/>
          <a:ln/>
        </p:spPr>
        <p:txBody>
          <a:bodyPr wrap="square" lIns="0" tIns="0" rIns="0" bIns="0" rtlCol="0" anchor="t"/>
          <a:lstStyle/>
          <a:p>
            <a:pPr marL="0" indent="0">
              <a:buNone/>
            </a:pPr>
            <a:r>
              <a:rPr lang="en-US" sz="1150" dirty="0">
                <a:solidFill>
                  <a:srgbClr val="1B2540"/>
                </a:solidFill>
                <a:latin typeface="Calibri" pitchFamily="34" charset="0"/>
                <a:ea typeface="Calibri" pitchFamily="34" charset="-122"/>
                <a:cs typeface="Calibri" pitchFamily="34" charset="-120"/>
              </a:rPr>
              <a:t>Closing the hand fires the forearm flexors; opening fires the extensors.</a:t>
            </a:r>
            <a:endParaRPr lang="en-US" sz="1150" dirty="0"/>
          </a:p>
        </p:txBody>
      </p:sp>
      <p:sp>
        <p:nvSpPr>
          <p:cNvPr id="17" name="Shape 13"/>
          <p:cNvSpPr/>
          <p:nvPr/>
        </p:nvSpPr>
        <p:spPr>
          <a:xfrm>
            <a:off x="3017520" y="3054096"/>
            <a:ext cx="457200" cy="457200"/>
          </a:xfrm>
          <a:prstGeom prst="ellipse">
            <a:avLst/>
          </a:prstGeom>
          <a:solidFill>
            <a:srgbClr val="E85D4F"/>
          </a:solidFill>
          <a:ln w="12700">
            <a:solidFill>
              <a:srgbClr val="E85D4F"/>
            </a:solidFill>
            <a:prstDash val="solid"/>
          </a:ln>
        </p:spPr>
        <p:txBody>
          <a:bodyPr/>
          <a:lstStyle/>
          <a:p>
            <a:endParaRPr lang="en-IN"/>
          </a:p>
        </p:txBody>
      </p:sp>
      <p:sp>
        <p:nvSpPr>
          <p:cNvPr id="18" name="Text 14"/>
          <p:cNvSpPr txBox="1"/>
          <p:nvPr/>
        </p:nvSpPr>
        <p:spPr>
          <a:xfrm>
            <a:off x="3017520" y="305409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5"/>
          <p:cNvSpPr txBox="1"/>
          <p:nvPr/>
        </p:nvSpPr>
        <p:spPr>
          <a:xfrm>
            <a:off x="3657600" y="3054096"/>
            <a:ext cx="5029200" cy="274320"/>
          </a:xfrm>
          <a:prstGeom prst="rect">
            <a:avLst/>
          </a:prstGeom>
          <a:noFill/>
          <a:ln/>
        </p:spPr>
        <p:txBody>
          <a:bodyPr wrap="square" lIns="0" tIns="0" rIns="0" bIns="0" rtlCol="0" anchor="t"/>
          <a:lstStyle/>
          <a:p>
            <a:pPr marL="0" indent="0">
              <a:buNone/>
            </a:pPr>
            <a:r>
              <a:rPr lang="en-US" sz="1500" b="1" dirty="0">
                <a:solidFill>
                  <a:srgbClr val="1B2540"/>
                </a:solidFill>
                <a:latin typeface="Georgia" pitchFamily="34" charset="0"/>
                <a:ea typeface="Georgia" pitchFamily="34" charset="-122"/>
                <a:cs typeface="Georgia" pitchFamily="34" charset="-120"/>
              </a:rPr>
              <a:t>Signal to command</a:t>
            </a:r>
            <a:endParaRPr lang="en-US" sz="1500" dirty="0"/>
          </a:p>
        </p:txBody>
      </p:sp>
      <p:sp>
        <p:nvSpPr>
          <p:cNvPr id="20" name="Text 16"/>
          <p:cNvSpPr txBox="1"/>
          <p:nvPr/>
        </p:nvSpPr>
        <p:spPr>
          <a:xfrm>
            <a:off x="3657600" y="3364992"/>
            <a:ext cx="5029200" cy="457200"/>
          </a:xfrm>
          <a:prstGeom prst="rect">
            <a:avLst/>
          </a:prstGeom>
          <a:noFill/>
          <a:ln/>
        </p:spPr>
        <p:txBody>
          <a:bodyPr wrap="square" lIns="0" tIns="0" rIns="0" bIns="0" rtlCol="0" anchor="t"/>
          <a:lstStyle/>
          <a:p>
            <a:pPr marL="0" indent="0">
              <a:buNone/>
            </a:pPr>
            <a:r>
              <a:rPr lang="en-US" sz="1150" dirty="0">
                <a:solidFill>
                  <a:srgbClr val="1B2540"/>
                </a:solidFill>
                <a:latin typeface="Calibri" pitchFamily="34" charset="0"/>
                <a:ea typeface="Calibri" pitchFamily="34" charset="-122"/>
                <a:cs typeface="Calibri" pitchFamily="34" charset="-120"/>
              </a:rPr>
              <a:t>Software recognizes the pattern and drives the prosthetic hand.</a:t>
            </a:r>
            <a:endParaRPr lang="en-US" sz="1150" dirty="0"/>
          </a:p>
        </p:txBody>
      </p:sp>
      <p:sp>
        <p:nvSpPr>
          <p:cNvPr id="21" name="Shape 17"/>
          <p:cNvSpPr/>
          <p:nvPr/>
        </p:nvSpPr>
        <p:spPr>
          <a:xfrm>
            <a:off x="457200" y="4160520"/>
            <a:ext cx="1463040" cy="457200"/>
          </a:xfrm>
          <a:prstGeom prst="rect">
            <a:avLst/>
          </a:prstGeom>
          <a:solidFill>
            <a:srgbClr val="FFFFFF"/>
          </a:solidFill>
          <a:ln w="12700">
            <a:solidFill>
              <a:srgbClr val="FFFFFF"/>
            </a:solidFill>
            <a:prstDash val="solid"/>
          </a:ln>
        </p:spPr>
        <p:txBody>
          <a:bodyPr/>
          <a:lstStyle/>
          <a:p>
            <a:endParaRPr lang="en-IN"/>
          </a:p>
        </p:txBody>
      </p:sp>
      <p:sp>
        <p:nvSpPr>
          <p:cNvPr id="22" name="Text 18"/>
          <p:cNvSpPr txBox="1"/>
          <p:nvPr/>
        </p:nvSpPr>
        <p:spPr>
          <a:xfrm>
            <a:off x="457200" y="4160520"/>
            <a:ext cx="1463040" cy="457200"/>
          </a:xfrm>
          <a:prstGeom prst="rect">
            <a:avLst/>
          </a:prstGeom>
          <a:noFill/>
          <a:ln/>
        </p:spPr>
        <p:txBody>
          <a:bodyPr wrap="square" lIns="0" tIns="0" rIns="0" bIns="0" rtlCol="0" anchor="ctr"/>
          <a:lstStyle/>
          <a:p>
            <a:pPr marL="0" indent="0" algn="ctr">
              <a:buNone/>
            </a:pPr>
            <a:r>
              <a:rPr lang="en-US" sz="1100" b="1" dirty="0">
                <a:solidFill>
                  <a:srgbClr val="0F7B84"/>
                </a:solidFill>
                <a:latin typeface="Calibri" pitchFamily="34" charset="0"/>
                <a:ea typeface="Calibri" pitchFamily="34" charset="-122"/>
                <a:cs typeface="Calibri" pitchFamily="34" charset="-120"/>
              </a:rPr>
              <a:t>1  Acquire</a:t>
            </a:r>
            <a:endParaRPr lang="en-US" sz="1100" dirty="0"/>
          </a:p>
        </p:txBody>
      </p:sp>
      <p:sp>
        <p:nvSpPr>
          <p:cNvPr id="23" name="Shape 19"/>
          <p:cNvSpPr/>
          <p:nvPr/>
        </p:nvSpPr>
        <p:spPr>
          <a:xfrm>
            <a:off x="1938528" y="4389120"/>
            <a:ext cx="192024" cy="0"/>
          </a:xfrm>
          <a:prstGeom prst="line">
            <a:avLst/>
          </a:prstGeom>
          <a:noFill/>
          <a:ln w="25400">
            <a:solidFill>
              <a:srgbClr val="E85D4F"/>
            </a:solidFill>
            <a:prstDash val="solid"/>
            <a:tailEnd type="triangle"/>
          </a:ln>
        </p:spPr>
        <p:txBody>
          <a:bodyPr/>
          <a:lstStyle/>
          <a:p>
            <a:endParaRPr lang="en-IN"/>
          </a:p>
        </p:txBody>
      </p:sp>
      <p:sp>
        <p:nvSpPr>
          <p:cNvPr id="24" name="Shape 20"/>
          <p:cNvSpPr/>
          <p:nvPr/>
        </p:nvSpPr>
        <p:spPr>
          <a:xfrm>
            <a:off x="2148840" y="4160520"/>
            <a:ext cx="1463040" cy="457200"/>
          </a:xfrm>
          <a:prstGeom prst="rect">
            <a:avLst/>
          </a:prstGeom>
          <a:solidFill>
            <a:srgbClr val="FFFFFF"/>
          </a:solidFill>
          <a:ln w="12700">
            <a:solidFill>
              <a:srgbClr val="FFFFFF"/>
            </a:solidFill>
            <a:prstDash val="solid"/>
          </a:ln>
        </p:spPr>
        <p:txBody>
          <a:bodyPr/>
          <a:lstStyle/>
          <a:p>
            <a:endParaRPr lang="en-IN"/>
          </a:p>
        </p:txBody>
      </p:sp>
      <p:sp>
        <p:nvSpPr>
          <p:cNvPr id="25" name="Text 21"/>
          <p:cNvSpPr txBox="1"/>
          <p:nvPr/>
        </p:nvSpPr>
        <p:spPr>
          <a:xfrm>
            <a:off x="2148840" y="4160520"/>
            <a:ext cx="1463040" cy="457200"/>
          </a:xfrm>
          <a:prstGeom prst="rect">
            <a:avLst/>
          </a:prstGeom>
          <a:noFill/>
          <a:ln/>
        </p:spPr>
        <p:txBody>
          <a:bodyPr wrap="square" lIns="0" tIns="0" rIns="0" bIns="0" rtlCol="0" anchor="ctr"/>
          <a:lstStyle/>
          <a:p>
            <a:pPr marL="0" indent="0" algn="ctr">
              <a:buNone/>
            </a:pPr>
            <a:r>
              <a:rPr lang="en-US" sz="1100" b="1" dirty="0">
                <a:solidFill>
                  <a:srgbClr val="0F7B84"/>
                </a:solidFill>
                <a:latin typeface="Calibri" pitchFamily="34" charset="0"/>
                <a:ea typeface="Calibri" pitchFamily="34" charset="-122"/>
                <a:cs typeface="Calibri" pitchFamily="34" charset="-120"/>
              </a:rPr>
              <a:t>2  Segment</a:t>
            </a:r>
            <a:endParaRPr lang="en-US" sz="1100" dirty="0"/>
          </a:p>
        </p:txBody>
      </p:sp>
      <p:sp>
        <p:nvSpPr>
          <p:cNvPr id="26" name="Shape 22"/>
          <p:cNvSpPr/>
          <p:nvPr/>
        </p:nvSpPr>
        <p:spPr>
          <a:xfrm>
            <a:off x="3630168" y="4389120"/>
            <a:ext cx="192024" cy="0"/>
          </a:xfrm>
          <a:prstGeom prst="line">
            <a:avLst/>
          </a:prstGeom>
          <a:noFill/>
          <a:ln w="25400">
            <a:solidFill>
              <a:srgbClr val="E85D4F"/>
            </a:solidFill>
            <a:prstDash val="solid"/>
            <a:tailEnd type="triangle"/>
          </a:ln>
        </p:spPr>
        <p:txBody>
          <a:bodyPr/>
          <a:lstStyle/>
          <a:p>
            <a:endParaRPr lang="en-IN"/>
          </a:p>
        </p:txBody>
      </p:sp>
      <p:sp>
        <p:nvSpPr>
          <p:cNvPr id="27" name="Shape 23"/>
          <p:cNvSpPr/>
          <p:nvPr/>
        </p:nvSpPr>
        <p:spPr>
          <a:xfrm>
            <a:off x="3840480" y="4160520"/>
            <a:ext cx="1463040" cy="457200"/>
          </a:xfrm>
          <a:prstGeom prst="rect">
            <a:avLst/>
          </a:prstGeom>
          <a:solidFill>
            <a:srgbClr val="FFFFFF"/>
          </a:solidFill>
          <a:ln w="12700">
            <a:solidFill>
              <a:srgbClr val="FFFFFF"/>
            </a:solidFill>
            <a:prstDash val="solid"/>
          </a:ln>
        </p:spPr>
        <p:txBody>
          <a:bodyPr/>
          <a:lstStyle/>
          <a:p>
            <a:endParaRPr lang="en-IN"/>
          </a:p>
        </p:txBody>
      </p:sp>
      <p:sp>
        <p:nvSpPr>
          <p:cNvPr id="28" name="Text 24"/>
          <p:cNvSpPr txBox="1"/>
          <p:nvPr/>
        </p:nvSpPr>
        <p:spPr>
          <a:xfrm>
            <a:off x="3840480" y="4160520"/>
            <a:ext cx="1463040" cy="457200"/>
          </a:xfrm>
          <a:prstGeom prst="rect">
            <a:avLst/>
          </a:prstGeom>
          <a:noFill/>
          <a:ln/>
        </p:spPr>
        <p:txBody>
          <a:bodyPr wrap="square" lIns="0" tIns="0" rIns="0" bIns="0" rtlCol="0" anchor="ctr"/>
          <a:lstStyle/>
          <a:p>
            <a:pPr marL="0" indent="0" algn="ctr">
              <a:buNone/>
            </a:pPr>
            <a:r>
              <a:rPr lang="en-US" sz="1100" b="1" dirty="0">
                <a:solidFill>
                  <a:srgbClr val="0F7B84"/>
                </a:solidFill>
                <a:latin typeface="Calibri" pitchFamily="34" charset="0"/>
                <a:ea typeface="Calibri" pitchFamily="34" charset="-122"/>
                <a:cs typeface="Calibri" pitchFamily="34" charset="-120"/>
              </a:rPr>
              <a:t>3  Extract</a:t>
            </a:r>
            <a:endParaRPr lang="en-US" sz="1100" dirty="0"/>
          </a:p>
        </p:txBody>
      </p:sp>
      <p:sp>
        <p:nvSpPr>
          <p:cNvPr id="29" name="Shape 25"/>
          <p:cNvSpPr/>
          <p:nvPr/>
        </p:nvSpPr>
        <p:spPr>
          <a:xfrm>
            <a:off x="5321808" y="4389120"/>
            <a:ext cx="192024" cy="0"/>
          </a:xfrm>
          <a:prstGeom prst="line">
            <a:avLst/>
          </a:prstGeom>
          <a:noFill/>
          <a:ln w="25400">
            <a:solidFill>
              <a:srgbClr val="E85D4F"/>
            </a:solidFill>
            <a:prstDash val="solid"/>
            <a:tailEnd type="triangle"/>
          </a:ln>
        </p:spPr>
        <p:txBody>
          <a:bodyPr/>
          <a:lstStyle/>
          <a:p>
            <a:endParaRPr lang="en-IN"/>
          </a:p>
        </p:txBody>
      </p:sp>
      <p:sp>
        <p:nvSpPr>
          <p:cNvPr id="30" name="Shape 26"/>
          <p:cNvSpPr/>
          <p:nvPr/>
        </p:nvSpPr>
        <p:spPr>
          <a:xfrm>
            <a:off x="5532120" y="4160520"/>
            <a:ext cx="1463040" cy="457200"/>
          </a:xfrm>
          <a:prstGeom prst="rect">
            <a:avLst/>
          </a:prstGeom>
          <a:solidFill>
            <a:srgbClr val="E85D4F"/>
          </a:solidFill>
          <a:ln w="12700">
            <a:solidFill>
              <a:srgbClr val="E85D4F"/>
            </a:solidFill>
            <a:prstDash val="solid"/>
          </a:ln>
        </p:spPr>
        <p:txBody>
          <a:bodyPr/>
          <a:lstStyle/>
          <a:p>
            <a:endParaRPr lang="en-IN"/>
          </a:p>
        </p:txBody>
      </p:sp>
      <p:sp>
        <p:nvSpPr>
          <p:cNvPr id="31" name="Text 27"/>
          <p:cNvSpPr txBox="1"/>
          <p:nvPr/>
        </p:nvSpPr>
        <p:spPr>
          <a:xfrm>
            <a:off x="5532120" y="4160520"/>
            <a:ext cx="146304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  Classify</a:t>
            </a:r>
            <a:endParaRPr lang="en-US" sz="1100" dirty="0"/>
          </a:p>
        </p:txBody>
      </p:sp>
      <p:sp>
        <p:nvSpPr>
          <p:cNvPr id="32" name="Shape 28"/>
          <p:cNvSpPr/>
          <p:nvPr/>
        </p:nvSpPr>
        <p:spPr>
          <a:xfrm>
            <a:off x="7013448" y="4389120"/>
            <a:ext cx="192024" cy="0"/>
          </a:xfrm>
          <a:prstGeom prst="line">
            <a:avLst/>
          </a:prstGeom>
          <a:noFill/>
          <a:ln w="25400">
            <a:solidFill>
              <a:srgbClr val="E85D4F"/>
            </a:solidFill>
            <a:prstDash val="solid"/>
            <a:tailEnd type="triangle"/>
          </a:ln>
        </p:spPr>
        <p:txBody>
          <a:bodyPr/>
          <a:lstStyle/>
          <a:p>
            <a:endParaRPr lang="en-IN"/>
          </a:p>
        </p:txBody>
      </p:sp>
      <p:sp>
        <p:nvSpPr>
          <p:cNvPr id="33" name="Shape 29"/>
          <p:cNvSpPr/>
          <p:nvPr/>
        </p:nvSpPr>
        <p:spPr>
          <a:xfrm>
            <a:off x="7223760" y="4160520"/>
            <a:ext cx="1463040" cy="457200"/>
          </a:xfrm>
          <a:prstGeom prst="rect">
            <a:avLst/>
          </a:prstGeom>
          <a:solidFill>
            <a:srgbClr val="FFFFFF"/>
          </a:solidFill>
          <a:ln w="12700">
            <a:solidFill>
              <a:srgbClr val="FFFFFF"/>
            </a:solidFill>
            <a:prstDash val="solid"/>
          </a:ln>
        </p:spPr>
        <p:txBody>
          <a:bodyPr/>
          <a:lstStyle/>
          <a:p>
            <a:endParaRPr lang="en-IN"/>
          </a:p>
        </p:txBody>
      </p:sp>
      <p:sp>
        <p:nvSpPr>
          <p:cNvPr id="34" name="Text 30"/>
          <p:cNvSpPr txBox="1"/>
          <p:nvPr/>
        </p:nvSpPr>
        <p:spPr>
          <a:xfrm>
            <a:off x="7223760" y="4160520"/>
            <a:ext cx="1463040" cy="457200"/>
          </a:xfrm>
          <a:prstGeom prst="rect">
            <a:avLst/>
          </a:prstGeom>
          <a:noFill/>
          <a:ln/>
        </p:spPr>
        <p:txBody>
          <a:bodyPr wrap="square" lIns="0" tIns="0" rIns="0" bIns="0" rtlCol="0" anchor="ctr"/>
          <a:lstStyle/>
          <a:p>
            <a:pPr marL="0" indent="0" algn="ctr">
              <a:buNone/>
            </a:pPr>
            <a:r>
              <a:rPr lang="en-US" sz="1100" b="1" dirty="0">
                <a:solidFill>
                  <a:srgbClr val="0F7B84"/>
                </a:solidFill>
                <a:latin typeface="Calibri" pitchFamily="34" charset="0"/>
                <a:ea typeface="Calibri" pitchFamily="34" charset="-122"/>
                <a:cs typeface="Calibri" pitchFamily="34" charset="-120"/>
              </a:rPr>
              <a:t>5  Actuate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EBE8"/>
        </a:solidFill>
        <a:effectLst/>
      </p:bgPr>
    </p:bg>
    <p:spTree>
      <p:nvGrpSpPr>
        <p:cNvPr id="1" name=""/>
        <p:cNvGrpSpPr/>
        <p:nvPr/>
      </p:nvGrpSpPr>
      <p:grpSpPr>
        <a:xfrm>
          <a:off x="0" y="0"/>
          <a:ext cx="0" cy="0"/>
          <a:chOff x="0" y="0"/>
          <a:chExt cx="0" cy="0"/>
        </a:xfrm>
      </p:grpSpPr>
      <p:sp>
        <p:nvSpPr>
          <p:cNvPr id="2" name="Text 0"/>
          <p:cNvSpPr txBox="1"/>
          <p:nvPr/>
        </p:nvSpPr>
        <p:spPr>
          <a:xfrm>
            <a:off x="457200" y="182880"/>
            <a:ext cx="5486400" cy="228600"/>
          </a:xfrm>
          <a:prstGeom prst="rect">
            <a:avLst/>
          </a:prstGeom>
          <a:noFill/>
          <a:ln/>
        </p:spPr>
        <p:txBody>
          <a:bodyPr wrap="square" lIns="0" tIns="0" rIns="0" bIns="0" rtlCol="0" anchor="ctr"/>
          <a:lstStyle/>
          <a:p>
            <a:pPr marL="0" indent="0">
              <a:buNone/>
            </a:pPr>
            <a:r>
              <a:rPr lang="en-US" sz="1100" b="1" kern="0" spc="400" dirty="0">
                <a:solidFill>
                  <a:srgbClr val="0F7B84"/>
                </a:solidFill>
                <a:latin typeface="Calibri" pitchFamily="34" charset="0"/>
                <a:ea typeface="Calibri" pitchFamily="34" charset="-122"/>
                <a:cs typeface="Calibri" pitchFamily="34" charset="-120"/>
              </a:rPr>
              <a:t>SECTION 4a</a:t>
            </a:r>
            <a:endParaRPr lang="en-US" sz="1100" dirty="0"/>
          </a:p>
        </p:txBody>
      </p:sp>
      <p:sp>
        <p:nvSpPr>
          <p:cNvPr id="3" name="Text 1"/>
          <p:cNvSpPr txBox="1"/>
          <p:nvPr/>
        </p:nvSpPr>
        <p:spPr>
          <a:xfrm>
            <a:off x="457200" y="411480"/>
            <a:ext cx="8229600" cy="548640"/>
          </a:xfrm>
          <a:prstGeom prst="rect">
            <a:avLst/>
          </a:prstGeom>
          <a:noFill/>
          <a:ln/>
        </p:spPr>
        <p:txBody>
          <a:bodyPr wrap="square" lIns="0" tIns="0" rIns="0" bIns="0" rtlCol="0" anchor="ctr"/>
          <a:lstStyle/>
          <a:p>
            <a:pPr marL="0" indent="0">
              <a:buNone/>
            </a:pPr>
            <a:r>
              <a:rPr lang="en-US" sz="2400" b="1" dirty="0">
                <a:solidFill>
                  <a:srgbClr val="0F7B84"/>
                </a:solidFill>
                <a:latin typeface="Georgia" pitchFamily="34" charset="0"/>
                <a:ea typeface="Georgia" pitchFamily="34" charset="-122"/>
                <a:cs typeface="Georgia" pitchFamily="34" charset="-120"/>
              </a:rPr>
              <a:t>From Raw Signal to Features</a:t>
            </a:r>
            <a:endParaRPr lang="en-US" sz="2400" dirty="0"/>
          </a:p>
        </p:txBody>
      </p:sp>
      <p:sp>
        <p:nvSpPr>
          <p:cNvPr id="4" name="Text 2"/>
          <p:cNvSpPr txBox="1"/>
          <p:nvPr/>
        </p:nvSpPr>
        <p:spPr>
          <a:xfrm>
            <a:off x="457200" y="4846320"/>
            <a:ext cx="3657600" cy="201168"/>
          </a:xfrm>
          <a:prstGeom prst="rect">
            <a:avLst/>
          </a:prstGeom>
          <a:noFill/>
          <a:ln/>
        </p:spPr>
        <p:txBody>
          <a:bodyPr wrap="square" lIns="0" tIns="0" rIns="0" bIns="0" rtlCol="0" anchor="ctr"/>
          <a:lstStyle/>
          <a:p>
            <a:pPr marL="0" indent="0">
              <a:buNone/>
            </a:pPr>
            <a:r>
              <a:rPr lang="en-US" sz="800" dirty="0">
                <a:solidFill>
                  <a:srgbClr val="1B2540"/>
                </a:solidFill>
                <a:latin typeface="Calibri" pitchFamily="34" charset="0"/>
                <a:ea typeface="Calibri" pitchFamily="34" charset="-122"/>
                <a:cs typeface="Calibri" pitchFamily="34" charset="-120"/>
              </a:rPr>
              <a:t>THOUGHT-CONTROLLED BIONIC HAND</a:t>
            </a:r>
            <a:endParaRPr lang="en-US" sz="800" dirty="0"/>
          </a:p>
        </p:txBody>
      </p:sp>
      <p:sp>
        <p:nvSpPr>
          <p:cNvPr id="5" name="Text 3"/>
          <p:cNvSpPr txBox="1"/>
          <p:nvPr/>
        </p:nvSpPr>
        <p:spPr>
          <a:xfrm>
            <a:off x="7772400" y="4846320"/>
            <a:ext cx="914400" cy="201168"/>
          </a:xfrm>
          <a:prstGeom prst="rect">
            <a:avLst/>
          </a:prstGeom>
          <a:noFill/>
          <a:ln/>
        </p:spPr>
        <p:txBody>
          <a:bodyPr wrap="square" lIns="0" tIns="0" rIns="0" bIns="0" rtlCol="0" anchor="ctr"/>
          <a:lstStyle/>
          <a:p>
            <a:pPr marL="0" indent="0" algn="r">
              <a:buNone/>
            </a:pPr>
            <a:r>
              <a:rPr lang="en-US" sz="800" dirty="0">
                <a:solidFill>
                  <a:srgbClr val="1B2540"/>
                </a:solidFill>
                <a:latin typeface="Calibri" pitchFamily="34" charset="0"/>
                <a:ea typeface="Calibri" pitchFamily="34" charset="-122"/>
                <a:cs typeface="Calibri" pitchFamily="34" charset="-120"/>
              </a:rPr>
              <a:t>08 / 16</a:t>
            </a:r>
            <a:endParaRPr lang="en-US" sz="800" dirty="0"/>
          </a:p>
        </p:txBody>
      </p:sp>
      <p:sp>
        <p:nvSpPr>
          <p:cNvPr id="6" name="Text 4"/>
          <p:cNvSpPr txBox="1"/>
          <p:nvPr/>
        </p:nvSpPr>
        <p:spPr>
          <a:xfrm>
            <a:off x="3931920" y="4846320"/>
            <a:ext cx="3749040" cy="201168"/>
          </a:xfrm>
          <a:prstGeom prst="rect">
            <a:avLst/>
          </a:prstGeom>
          <a:noFill/>
          <a:ln/>
        </p:spPr>
        <p:txBody>
          <a:bodyPr wrap="square" lIns="0" tIns="0" rIns="0" bIns="0" rtlCol="0" anchor="ctr"/>
          <a:lstStyle/>
          <a:p>
            <a:pPr marL="0" indent="0" algn="r">
              <a:buNone/>
            </a:pPr>
            <a:r>
              <a:rPr lang="en-US" sz="750" i="1" dirty="0">
                <a:solidFill>
                  <a:srgbClr val="1B2540"/>
                </a:solidFill>
                <a:latin typeface="Calibri" pitchFamily="34" charset="0"/>
                <a:ea typeface="Calibri" pitchFamily="34" charset="-122"/>
                <a:cs typeface="Calibri" pitchFamily="34" charset="-120"/>
              </a:rPr>
              <a:t>Sources: Shi et al., 2018; Tavakoli et al., 2017</a:t>
            </a:r>
            <a:endParaRPr lang="en-US" sz="750" dirty="0"/>
          </a:p>
        </p:txBody>
      </p:sp>
      <p:sp>
        <p:nvSpPr>
          <p:cNvPr id="8" name="Shape 5"/>
          <p:cNvSpPr/>
          <p:nvPr/>
        </p:nvSpPr>
        <p:spPr>
          <a:xfrm>
            <a:off x="457200" y="1097280"/>
            <a:ext cx="2468880" cy="777240"/>
          </a:xfrm>
          <a:prstGeom prst="rect">
            <a:avLst/>
          </a:prstGeom>
          <a:solidFill>
            <a:srgbClr val="FFFFFF"/>
          </a:solidFill>
          <a:ln w="12700">
            <a:solidFill>
              <a:srgbClr val="FFFFFF"/>
            </a:solidFill>
            <a:prstDash val="solid"/>
          </a:ln>
        </p:spPr>
        <p:txBody>
          <a:bodyPr/>
          <a:lstStyle/>
          <a:p>
            <a:endParaRPr lang="en-IN"/>
          </a:p>
        </p:txBody>
      </p:sp>
      <p:sp>
        <p:nvSpPr>
          <p:cNvPr id="9" name="Text 6"/>
          <p:cNvSpPr txBox="1"/>
          <p:nvPr/>
        </p:nvSpPr>
        <p:spPr>
          <a:xfrm>
            <a:off x="530352" y="1161288"/>
            <a:ext cx="2322576" cy="274320"/>
          </a:xfrm>
          <a:prstGeom prst="rect">
            <a:avLst/>
          </a:prstGeom>
          <a:noFill/>
          <a:ln/>
        </p:spPr>
        <p:txBody>
          <a:bodyPr wrap="square" lIns="0" tIns="0" rIns="0" bIns="0" rtlCol="0" anchor="t"/>
          <a:lstStyle/>
          <a:p>
            <a:pPr marL="0" indent="0" algn="ctr">
              <a:buNone/>
            </a:pPr>
            <a:r>
              <a:rPr lang="en-US" sz="1200" b="1" dirty="0">
                <a:solidFill>
                  <a:srgbClr val="0F7B84"/>
                </a:solidFill>
                <a:latin typeface="Calibri" pitchFamily="34" charset="0"/>
                <a:ea typeface="Calibri" pitchFamily="34" charset="-122"/>
                <a:cs typeface="Calibri" pitchFamily="34" charset="-120"/>
              </a:rPr>
              <a:t>1  Detect onset</a:t>
            </a:r>
            <a:endParaRPr lang="en-US" sz="1200" dirty="0"/>
          </a:p>
        </p:txBody>
      </p:sp>
      <p:sp>
        <p:nvSpPr>
          <p:cNvPr id="10" name="Text 7"/>
          <p:cNvSpPr txBox="1"/>
          <p:nvPr/>
        </p:nvSpPr>
        <p:spPr>
          <a:xfrm>
            <a:off x="530352" y="1463040"/>
            <a:ext cx="2322576" cy="365760"/>
          </a:xfrm>
          <a:prstGeom prst="rect">
            <a:avLst/>
          </a:prstGeom>
          <a:noFill/>
          <a:ln/>
        </p:spPr>
        <p:txBody>
          <a:bodyPr wrap="square" lIns="0" tIns="0" rIns="0" bIns="0" rtlCol="0" anchor="t"/>
          <a:lstStyle/>
          <a:p>
            <a:pPr marL="0" indent="0" algn="ctr">
              <a:buNone/>
            </a:pPr>
            <a:r>
              <a:rPr lang="en-US" sz="950" dirty="0">
                <a:solidFill>
                  <a:srgbClr val="1B2540"/>
                </a:solidFill>
                <a:latin typeface="Calibri" pitchFamily="34" charset="0"/>
                <a:ea typeface="Calibri" pitchFamily="34" charset="-122"/>
                <a:cs typeface="Calibri" pitchFamily="34" charset="-120"/>
              </a:rPr>
              <a:t>threshold = baseline mean + 3σ</a:t>
            </a:r>
            <a:endParaRPr lang="en-US" sz="950" dirty="0"/>
          </a:p>
        </p:txBody>
      </p:sp>
      <p:sp>
        <p:nvSpPr>
          <p:cNvPr id="11" name="Shape 8"/>
          <p:cNvSpPr/>
          <p:nvPr/>
        </p:nvSpPr>
        <p:spPr>
          <a:xfrm>
            <a:off x="2944368" y="1481328"/>
            <a:ext cx="374904" cy="0"/>
          </a:xfrm>
          <a:prstGeom prst="line">
            <a:avLst/>
          </a:prstGeom>
          <a:noFill/>
          <a:ln w="25400">
            <a:solidFill>
              <a:srgbClr val="E85D4F"/>
            </a:solidFill>
            <a:prstDash val="solid"/>
            <a:tailEnd type="triangle"/>
          </a:ln>
        </p:spPr>
        <p:txBody>
          <a:bodyPr/>
          <a:lstStyle/>
          <a:p>
            <a:endParaRPr lang="en-IN"/>
          </a:p>
        </p:txBody>
      </p:sp>
      <p:sp>
        <p:nvSpPr>
          <p:cNvPr id="12" name="Shape 9"/>
          <p:cNvSpPr/>
          <p:nvPr/>
        </p:nvSpPr>
        <p:spPr>
          <a:xfrm>
            <a:off x="3337560" y="1097280"/>
            <a:ext cx="2468880" cy="777240"/>
          </a:xfrm>
          <a:prstGeom prst="rect">
            <a:avLst/>
          </a:prstGeom>
          <a:solidFill>
            <a:srgbClr val="FFFFFF"/>
          </a:solidFill>
          <a:ln w="12700">
            <a:solidFill>
              <a:srgbClr val="FFFFFF"/>
            </a:solidFill>
            <a:prstDash val="solid"/>
          </a:ln>
        </p:spPr>
        <p:txBody>
          <a:bodyPr/>
          <a:lstStyle/>
          <a:p>
            <a:endParaRPr lang="en-IN"/>
          </a:p>
        </p:txBody>
      </p:sp>
      <p:sp>
        <p:nvSpPr>
          <p:cNvPr id="13" name="Text 10"/>
          <p:cNvSpPr txBox="1"/>
          <p:nvPr/>
        </p:nvSpPr>
        <p:spPr>
          <a:xfrm>
            <a:off x="3410712" y="1161288"/>
            <a:ext cx="2322576" cy="274320"/>
          </a:xfrm>
          <a:prstGeom prst="rect">
            <a:avLst/>
          </a:prstGeom>
          <a:noFill/>
          <a:ln/>
        </p:spPr>
        <p:txBody>
          <a:bodyPr wrap="square" lIns="0" tIns="0" rIns="0" bIns="0" rtlCol="0" anchor="t"/>
          <a:lstStyle/>
          <a:p>
            <a:pPr marL="0" indent="0" algn="ctr">
              <a:buNone/>
            </a:pPr>
            <a:r>
              <a:rPr lang="en-US" sz="1200" b="1" dirty="0">
                <a:solidFill>
                  <a:srgbClr val="0F7B84"/>
                </a:solidFill>
                <a:latin typeface="Calibri" pitchFamily="34" charset="0"/>
                <a:ea typeface="Calibri" pitchFamily="34" charset="-122"/>
                <a:cs typeface="Calibri" pitchFamily="34" charset="-120"/>
              </a:rPr>
              <a:t>2  Window</a:t>
            </a:r>
            <a:endParaRPr lang="en-US" sz="1200" dirty="0"/>
          </a:p>
        </p:txBody>
      </p:sp>
      <p:sp>
        <p:nvSpPr>
          <p:cNvPr id="14" name="Text 11"/>
          <p:cNvSpPr txBox="1"/>
          <p:nvPr/>
        </p:nvSpPr>
        <p:spPr>
          <a:xfrm>
            <a:off x="3410712" y="1463040"/>
            <a:ext cx="2322576" cy="365760"/>
          </a:xfrm>
          <a:prstGeom prst="rect">
            <a:avLst/>
          </a:prstGeom>
          <a:noFill/>
          <a:ln/>
        </p:spPr>
        <p:txBody>
          <a:bodyPr wrap="square" lIns="0" tIns="0" rIns="0" bIns="0" rtlCol="0" anchor="t"/>
          <a:lstStyle/>
          <a:p>
            <a:pPr marL="0" indent="0" algn="ctr">
              <a:buNone/>
            </a:pPr>
            <a:r>
              <a:rPr lang="en-US" sz="950" dirty="0">
                <a:solidFill>
                  <a:srgbClr val="1B2540"/>
                </a:solidFill>
                <a:latin typeface="Calibri" pitchFamily="34" charset="0"/>
                <a:ea typeface="Calibri" pitchFamily="34" charset="-122"/>
                <a:cs typeface="Calibri" pitchFamily="34" charset="-120"/>
              </a:rPr>
              <a:t>250 ms segments (&lt; 300 ms for real-time)</a:t>
            </a:r>
            <a:endParaRPr lang="en-US" sz="950" dirty="0"/>
          </a:p>
        </p:txBody>
      </p:sp>
      <p:sp>
        <p:nvSpPr>
          <p:cNvPr id="15" name="Shape 12"/>
          <p:cNvSpPr/>
          <p:nvPr/>
        </p:nvSpPr>
        <p:spPr>
          <a:xfrm>
            <a:off x="5824728" y="1481328"/>
            <a:ext cx="374904" cy="0"/>
          </a:xfrm>
          <a:prstGeom prst="line">
            <a:avLst/>
          </a:prstGeom>
          <a:noFill/>
          <a:ln w="25400">
            <a:solidFill>
              <a:srgbClr val="E85D4F"/>
            </a:solidFill>
            <a:prstDash val="solid"/>
            <a:tailEnd type="triangle"/>
          </a:ln>
        </p:spPr>
        <p:txBody>
          <a:bodyPr/>
          <a:lstStyle/>
          <a:p>
            <a:endParaRPr lang="en-IN"/>
          </a:p>
        </p:txBody>
      </p:sp>
      <p:sp>
        <p:nvSpPr>
          <p:cNvPr id="16" name="Shape 13"/>
          <p:cNvSpPr/>
          <p:nvPr/>
        </p:nvSpPr>
        <p:spPr>
          <a:xfrm>
            <a:off x="6217920" y="1097280"/>
            <a:ext cx="2468880" cy="777240"/>
          </a:xfrm>
          <a:prstGeom prst="rect">
            <a:avLst/>
          </a:prstGeom>
          <a:solidFill>
            <a:srgbClr val="E85D4F"/>
          </a:solidFill>
          <a:ln w="12700">
            <a:solidFill>
              <a:srgbClr val="E85D4F"/>
            </a:solidFill>
            <a:prstDash val="solid"/>
          </a:ln>
        </p:spPr>
        <p:txBody>
          <a:bodyPr/>
          <a:lstStyle/>
          <a:p>
            <a:endParaRPr lang="en-IN"/>
          </a:p>
        </p:txBody>
      </p:sp>
      <p:sp>
        <p:nvSpPr>
          <p:cNvPr id="17" name="Text 14"/>
          <p:cNvSpPr txBox="1"/>
          <p:nvPr/>
        </p:nvSpPr>
        <p:spPr>
          <a:xfrm>
            <a:off x="6291072" y="1161288"/>
            <a:ext cx="2322576" cy="274320"/>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3  Extract features</a:t>
            </a:r>
            <a:endParaRPr lang="en-US" sz="1200" dirty="0"/>
          </a:p>
        </p:txBody>
      </p:sp>
      <p:sp>
        <p:nvSpPr>
          <p:cNvPr id="18" name="Text 15"/>
          <p:cNvSpPr txBox="1"/>
          <p:nvPr/>
        </p:nvSpPr>
        <p:spPr>
          <a:xfrm>
            <a:off x="6291072" y="1463040"/>
            <a:ext cx="2322576" cy="365760"/>
          </a:xfrm>
          <a:prstGeom prst="rect">
            <a:avLst/>
          </a:prstGeom>
          <a:noFill/>
          <a:ln/>
        </p:spPr>
        <p:txBody>
          <a:bodyPr wrap="square" lIns="0" tIns="0" rIns="0" bIns="0" rtlCol="0" anchor="t"/>
          <a:lstStyle/>
          <a:p>
            <a:pPr marL="0" indent="0" algn="ctr">
              <a:buNone/>
            </a:pPr>
            <a:r>
              <a:rPr lang="en-US" sz="950" dirty="0">
                <a:solidFill>
                  <a:srgbClr val="FFFFFF"/>
                </a:solidFill>
                <a:latin typeface="Calibri" pitchFamily="34" charset="0"/>
                <a:ea typeface="Calibri" pitchFamily="34" charset="-122"/>
                <a:cs typeface="Calibri" pitchFamily="34" charset="-120"/>
              </a:rPr>
              <a:t>MAV · WL · ZC · SSC</a:t>
            </a:r>
            <a:endParaRPr lang="en-US" sz="950" dirty="0"/>
          </a:p>
        </p:txBody>
      </p:sp>
      <p:sp>
        <p:nvSpPr>
          <p:cNvPr id="19" name="Shape 16"/>
          <p:cNvSpPr/>
          <p:nvPr/>
        </p:nvSpPr>
        <p:spPr>
          <a:xfrm>
            <a:off x="457200" y="2103120"/>
            <a:ext cx="4023360" cy="960120"/>
          </a:xfrm>
          <a:prstGeom prst="rect">
            <a:avLst/>
          </a:prstGeom>
          <a:solidFill>
            <a:srgbClr val="FFDDD8"/>
          </a:solidFill>
          <a:ln w="12700">
            <a:solidFill>
              <a:srgbClr val="FFDDD8"/>
            </a:solidFill>
            <a:prstDash val="solid"/>
          </a:ln>
        </p:spPr>
        <p:txBody>
          <a:bodyPr/>
          <a:lstStyle/>
          <a:p>
            <a:endParaRPr lang="en-IN"/>
          </a:p>
        </p:txBody>
      </p:sp>
      <p:sp>
        <p:nvSpPr>
          <p:cNvPr id="20" name="Text 17"/>
          <p:cNvSpPr txBox="1"/>
          <p:nvPr/>
        </p:nvSpPr>
        <p:spPr>
          <a:xfrm>
            <a:off x="594360" y="2194560"/>
            <a:ext cx="640080" cy="274320"/>
          </a:xfrm>
          <a:prstGeom prst="rect">
            <a:avLst/>
          </a:prstGeom>
          <a:noFill/>
          <a:ln/>
        </p:spPr>
        <p:txBody>
          <a:bodyPr wrap="square" lIns="0" tIns="0" rIns="0" bIns="0" rtlCol="0" anchor="t"/>
          <a:lstStyle/>
          <a:p>
            <a:pPr marL="0" indent="0">
              <a:buNone/>
            </a:pPr>
            <a:r>
              <a:rPr lang="en-US" sz="1400" b="1" dirty="0">
                <a:solidFill>
                  <a:srgbClr val="E85D4F"/>
                </a:solidFill>
                <a:latin typeface="Georgia" pitchFamily="34" charset="0"/>
                <a:ea typeface="Georgia" pitchFamily="34" charset="-122"/>
                <a:cs typeface="Georgia" pitchFamily="34" charset="-120"/>
              </a:rPr>
              <a:t>MAV</a:t>
            </a:r>
            <a:endParaRPr lang="en-US" sz="1400" dirty="0"/>
          </a:p>
        </p:txBody>
      </p:sp>
      <p:sp>
        <p:nvSpPr>
          <p:cNvPr id="21" name="Text 18"/>
          <p:cNvSpPr txBox="1"/>
          <p:nvPr/>
        </p:nvSpPr>
        <p:spPr>
          <a:xfrm>
            <a:off x="1234440" y="2231136"/>
            <a:ext cx="3108960" cy="228600"/>
          </a:xfrm>
          <a:prstGeom prst="rect">
            <a:avLst/>
          </a:prstGeom>
          <a:noFill/>
          <a:ln/>
        </p:spPr>
        <p:txBody>
          <a:bodyPr wrap="square" lIns="0" tIns="0" rIns="0" bIns="0" rtlCol="0" anchor="t"/>
          <a:lstStyle/>
          <a:p>
            <a:pPr marL="0" indent="0">
              <a:buNone/>
            </a:pPr>
            <a:r>
              <a:rPr lang="en-US" sz="1050" dirty="0">
                <a:solidFill>
                  <a:srgbClr val="1B2540"/>
                </a:solidFill>
                <a:latin typeface="Calibri" pitchFamily="34" charset="0"/>
                <a:ea typeface="Calibri" pitchFamily="34" charset="-122"/>
                <a:cs typeface="Calibri" pitchFamily="34" charset="-120"/>
              </a:rPr>
              <a:t>average signal strength</a:t>
            </a:r>
            <a:endParaRPr lang="en-US" sz="1050" dirty="0"/>
          </a:p>
        </p:txBody>
      </p:sp>
      <p:sp>
        <p:nvSpPr>
          <p:cNvPr id="22" name="Text 19"/>
          <p:cNvSpPr txBox="1"/>
          <p:nvPr/>
        </p:nvSpPr>
        <p:spPr>
          <a:xfrm>
            <a:off x="594360" y="2578608"/>
            <a:ext cx="3749040" cy="365760"/>
          </a:xfrm>
          <a:prstGeom prst="rect">
            <a:avLst/>
          </a:prstGeom>
          <a:noFill/>
          <a:ln/>
        </p:spPr>
        <p:txBody>
          <a:bodyPr wrap="square" lIns="0" tIns="0" rIns="0" bIns="0" rtlCol="0" anchor="ctr"/>
          <a:lstStyle/>
          <a:p>
            <a:pPr marL="0" indent="0">
              <a:buNone/>
            </a:pPr>
            <a:r>
              <a:rPr lang="en-US" sz="1300" dirty="0">
                <a:solidFill>
                  <a:srgbClr val="1B2540"/>
                </a:solidFill>
                <a:latin typeface="Cambria Math" pitchFamily="34" charset="0"/>
                <a:ea typeface="Cambria Math" pitchFamily="34" charset="-122"/>
                <a:cs typeface="Cambria Math" pitchFamily="34" charset="-120"/>
              </a:rPr>
              <a:t>MAV = (1/N) Σ |xᵢ|</a:t>
            </a:r>
            <a:endParaRPr lang="en-US" sz="1300" dirty="0"/>
          </a:p>
        </p:txBody>
      </p:sp>
      <p:sp>
        <p:nvSpPr>
          <p:cNvPr id="23" name="Shape 20"/>
          <p:cNvSpPr/>
          <p:nvPr/>
        </p:nvSpPr>
        <p:spPr>
          <a:xfrm>
            <a:off x="4663440" y="2103120"/>
            <a:ext cx="4023360" cy="960120"/>
          </a:xfrm>
          <a:prstGeom prst="rect">
            <a:avLst/>
          </a:prstGeom>
          <a:solidFill>
            <a:srgbClr val="FFDDD8"/>
          </a:solidFill>
          <a:ln w="12700">
            <a:solidFill>
              <a:srgbClr val="FFDDD8"/>
            </a:solidFill>
            <a:prstDash val="solid"/>
          </a:ln>
        </p:spPr>
        <p:txBody>
          <a:bodyPr/>
          <a:lstStyle/>
          <a:p>
            <a:endParaRPr lang="en-IN"/>
          </a:p>
        </p:txBody>
      </p:sp>
      <p:sp>
        <p:nvSpPr>
          <p:cNvPr id="24" name="Text 21"/>
          <p:cNvSpPr txBox="1"/>
          <p:nvPr/>
        </p:nvSpPr>
        <p:spPr>
          <a:xfrm>
            <a:off x="4800600" y="2194560"/>
            <a:ext cx="640080" cy="274320"/>
          </a:xfrm>
          <a:prstGeom prst="rect">
            <a:avLst/>
          </a:prstGeom>
          <a:noFill/>
          <a:ln/>
        </p:spPr>
        <p:txBody>
          <a:bodyPr wrap="square" lIns="0" tIns="0" rIns="0" bIns="0" rtlCol="0" anchor="t"/>
          <a:lstStyle/>
          <a:p>
            <a:pPr marL="0" indent="0">
              <a:buNone/>
            </a:pPr>
            <a:r>
              <a:rPr lang="en-US" sz="1400" b="1" dirty="0">
                <a:solidFill>
                  <a:srgbClr val="E85D4F"/>
                </a:solidFill>
                <a:latin typeface="Georgia" pitchFamily="34" charset="0"/>
                <a:ea typeface="Georgia" pitchFamily="34" charset="-122"/>
                <a:cs typeface="Georgia" pitchFamily="34" charset="-120"/>
              </a:rPr>
              <a:t>WL</a:t>
            </a:r>
            <a:endParaRPr lang="en-US" sz="1400" dirty="0"/>
          </a:p>
        </p:txBody>
      </p:sp>
      <p:sp>
        <p:nvSpPr>
          <p:cNvPr id="25" name="Text 22"/>
          <p:cNvSpPr txBox="1"/>
          <p:nvPr/>
        </p:nvSpPr>
        <p:spPr>
          <a:xfrm>
            <a:off x="5440680" y="2231136"/>
            <a:ext cx="3108960" cy="228600"/>
          </a:xfrm>
          <a:prstGeom prst="rect">
            <a:avLst/>
          </a:prstGeom>
          <a:noFill/>
          <a:ln/>
        </p:spPr>
        <p:txBody>
          <a:bodyPr wrap="square" lIns="0" tIns="0" rIns="0" bIns="0" rtlCol="0" anchor="t"/>
          <a:lstStyle/>
          <a:p>
            <a:pPr marL="0" indent="0">
              <a:buNone/>
            </a:pPr>
            <a:r>
              <a:rPr lang="en-US" sz="1050" dirty="0">
                <a:solidFill>
                  <a:srgbClr val="1B2540"/>
                </a:solidFill>
                <a:latin typeface="Calibri" pitchFamily="34" charset="0"/>
                <a:ea typeface="Calibri" pitchFamily="34" charset="-122"/>
                <a:cs typeface="Calibri" pitchFamily="34" charset="-120"/>
              </a:rPr>
              <a:t>waveform complexity</a:t>
            </a:r>
            <a:endParaRPr lang="en-US" sz="1050" dirty="0"/>
          </a:p>
        </p:txBody>
      </p:sp>
      <p:sp>
        <p:nvSpPr>
          <p:cNvPr id="26" name="Text 23"/>
          <p:cNvSpPr txBox="1"/>
          <p:nvPr/>
        </p:nvSpPr>
        <p:spPr>
          <a:xfrm>
            <a:off x="4800600" y="2578608"/>
            <a:ext cx="3749040" cy="365760"/>
          </a:xfrm>
          <a:prstGeom prst="rect">
            <a:avLst/>
          </a:prstGeom>
          <a:noFill/>
          <a:ln/>
        </p:spPr>
        <p:txBody>
          <a:bodyPr wrap="square" lIns="0" tIns="0" rIns="0" bIns="0" rtlCol="0" anchor="ctr"/>
          <a:lstStyle/>
          <a:p>
            <a:pPr marL="0" indent="0">
              <a:buNone/>
            </a:pPr>
            <a:r>
              <a:rPr lang="en-US" sz="1300" dirty="0">
                <a:solidFill>
                  <a:srgbClr val="1B2540"/>
                </a:solidFill>
                <a:latin typeface="Cambria Math" pitchFamily="34" charset="0"/>
                <a:ea typeface="Cambria Math" pitchFamily="34" charset="-122"/>
                <a:cs typeface="Cambria Math" pitchFamily="34" charset="-120"/>
              </a:rPr>
              <a:t>WL = Σ |xᵢ₊₁ − xᵢ|</a:t>
            </a:r>
            <a:endParaRPr lang="en-US" sz="1300" dirty="0"/>
          </a:p>
        </p:txBody>
      </p:sp>
      <p:sp>
        <p:nvSpPr>
          <p:cNvPr id="27" name="Shape 24"/>
          <p:cNvSpPr/>
          <p:nvPr/>
        </p:nvSpPr>
        <p:spPr>
          <a:xfrm>
            <a:off x="457200" y="3200400"/>
            <a:ext cx="4023360" cy="960120"/>
          </a:xfrm>
          <a:prstGeom prst="rect">
            <a:avLst/>
          </a:prstGeom>
          <a:solidFill>
            <a:srgbClr val="FFDDD8"/>
          </a:solidFill>
          <a:ln w="12700">
            <a:solidFill>
              <a:srgbClr val="FFDDD8"/>
            </a:solidFill>
            <a:prstDash val="solid"/>
          </a:ln>
        </p:spPr>
        <p:txBody>
          <a:bodyPr/>
          <a:lstStyle/>
          <a:p>
            <a:endParaRPr lang="en-IN"/>
          </a:p>
        </p:txBody>
      </p:sp>
      <p:sp>
        <p:nvSpPr>
          <p:cNvPr id="28" name="Text 25"/>
          <p:cNvSpPr txBox="1"/>
          <p:nvPr/>
        </p:nvSpPr>
        <p:spPr>
          <a:xfrm>
            <a:off x="594360" y="3291840"/>
            <a:ext cx="640080" cy="274320"/>
          </a:xfrm>
          <a:prstGeom prst="rect">
            <a:avLst/>
          </a:prstGeom>
          <a:noFill/>
          <a:ln/>
        </p:spPr>
        <p:txBody>
          <a:bodyPr wrap="square" lIns="0" tIns="0" rIns="0" bIns="0" rtlCol="0" anchor="t"/>
          <a:lstStyle/>
          <a:p>
            <a:pPr marL="0" indent="0">
              <a:buNone/>
            </a:pPr>
            <a:r>
              <a:rPr lang="en-US" sz="1400" b="1" dirty="0">
                <a:solidFill>
                  <a:srgbClr val="E85D4F"/>
                </a:solidFill>
                <a:latin typeface="Georgia" pitchFamily="34" charset="0"/>
                <a:ea typeface="Georgia" pitchFamily="34" charset="-122"/>
                <a:cs typeface="Georgia" pitchFamily="34" charset="-120"/>
              </a:rPr>
              <a:t>ZC</a:t>
            </a:r>
            <a:endParaRPr lang="en-US" sz="1400" dirty="0"/>
          </a:p>
        </p:txBody>
      </p:sp>
      <p:sp>
        <p:nvSpPr>
          <p:cNvPr id="29" name="Text 26"/>
          <p:cNvSpPr txBox="1"/>
          <p:nvPr/>
        </p:nvSpPr>
        <p:spPr>
          <a:xfrm>
            <a:off x="1234440" y="3328416"/>
            <a:ext cx="3108960" cy="228600"/>
          </a:xfrm>
          <a:prstGeom prst="rect">
            <a:avLst/>
          </a:prstGeom>
          <a:noFill/>
          <a:ln/>
        </p:spPr>
        <p:txBody>
          <a:bodyPr wrap="square" lIns="0" tIns="0" rIns="0" bIns="0" rtlCol="0" anchor="t"/>
          <a:lstStyle/>
          <a:p>
            <a:pPr marL="0" indent="0">
              <a:buNone/>
            </a:pPr>
            <a:r>
              <a:rPr lang="en-US" sz="1050" dirty="0">
                <a:solidFill>
                  <a:srgbClr val="1B2540"/>
                </a:solidFill>
                <a:latin typeface="Calibri" pitchFamily="34" charset="0"/>
                <a:ea typeface="Calibri" pitchFamily="34" charset="-122"/>
                <a:cs typeface="Calibri" pitchFamily="34" charset="-120"/>
              </a:rPr>
              <a:t>how often the signal crosses zero</a:t>
            </a:r>
            <a:endParaRPr lang="en-US" sz="1050" dirty="0"/>
          </a:p>
        </p:txBody>
      </p:sp>
      <p:sp>
        <p:nvSpPr>
          <p:cNvPr id="30" name="Text 27"/>
          <p:cNvSpPr txBox="1"/>
          <p:nvPr/>
        </p:nvSpPr>
        <p:spPr>
          <a:xfrm>
            <a:off x="594360" y="3675888"/>
            <a:ext cx="3749040" cy="365760"/>
          </a:xfrm>
          <a:prstGeom prst="rect">
            <a:avLst/>
          </a:prstGeom>
          <a:noFill/>
          <a:ln/>
        </p:spPr>
        <p:txBody>
          <a:bodyPr wrap="square" lIns="0" tIns="0" rIns="0" bIns="0" rtlCol="0" anchor="ctr"/>
          <a:lstStyle/>
          <a:p>
            <a:pPr marL="0" indent="0">
              <a:buNone/>
            </a:pPr>
            <a:r>
              <a:rPr lang="en-US" sz="1100" dirty="0">
                <a:solidFill>
                  <a:srgbClr val="1B2540"/>
                </a:solidFill>
                <a:latin typeface="Cambria Math" pitchFamily="34" charset="0"/>
                <a:ea typeface="Cambria Math" pitchFamily="34" charset="-122"/>
                <a:cs typeface="Cambria Math" pitchFamily="34" charset="-120"/>
              </a:rPr>
              <a:t>ZC = Σ [ sgn(−xᵢ·xᵢ₊₁) ∧ |xᵢ − xᵢ₊₁| ≥ thr ]</a:t>
            </a:r>
            <a:endParaRPr lang="en-US" sz="1100" dirty="0"/>
          </a:p>
        </p:txBody>
      </p:sp>
      <p:sp>
        <p:nvSpPr>
          <p:cNvPr id="31" name="Shape 28"/>
          <p:cNvSpPr/>
          <p:nvPr/>
        </p:nvSpPr>
        <p:spPr>
          <a:xfrm>
            <a:off x="4663440" y="3200400"/>
            <a:ext cx="4023360" cy="960120"/>
          </a:xfrm>
          <a:prstGeom prst="rect">
            <a:avLst/>
          </a:prstGeom>
          <a:solidFill>
            <a:srgbClr val="FFDDD8"/>
          </a:solidFill>
          <a:ln w="12700">
            <a:solidFill>
              <a:srgbClr val="FFDDD8"/>
            </a:solidFill>
            <a:prstDash val="solid"/>
          </a:ln>
        </p:spPr>
        <p:txBody>
          <a:bodyPr/>
          <a:lstStyle/>
          <a:p>
            <a:endParaRPr lang="en-IN"/>
          </a:p>
        </p:txBody>
      </p:sp>
      <p:sp>
        <p:nvSpPr>
          <p:cNvPr id="32" name="Text 29"/>
          <p:cNvSpPr txBox="1"/>
          <p:nvPr/>
        </p:nvSpPr>
        <p:spPr>
          <a:xfrm>
            <a:off x="4800600" y="3291840"/>
            <a:ext cx="640080" cy="274320"/>
          </a:xfrm>
          <a:prstGeom prst="rect">
            <a:avLst/>
          </a:prstGeom>
          <a:noFill/>
          <a:ln/>
        </p:spPr>
        <p:txBody>
          <a:bodyPr wrap="square" lIns="0" tIns="0" rIns="0" bIns="0" rtlCol="0" anchor="t"/>
          <a:lstStyle/>
          <a:p>
            <a:pPr marL="0" indent="0">
              <a:buNone/>
            </a:pPr>
            <a:r>
              <a:rPr lang="en-US" sz="1400" b="1" dirty="0">
                <a:solidFill>
                  <a:srgbClr val="E85D4F"/>
                </a:solidFill>
                <a:latin typeface="Georgia" pitchFamily="34" charset="0"/>
                <a:ea typeface="Georgia" pitchFamily="34" charset="-122"/>
                <a:cs typeface="Georgia" pitchFamily="34" charset="-120"/>
              </a:rPr>
              <a:t>SSC</a:t>
            </a:r>
            <a:endParaRPr lang="en-US" sz="1400" dirty="0"/>
          </a:p>
        </p:txBody>
      </p:sp>
      <p:sp>
        <p:nvSpPr>
          <p:cNvPr id="33" name="Text 30"/>
          <p:cNvSpPr txBox="1"/>
          <p:nvPr/>
        </p:nvSpPr>
        <p:spPr>
          <a:xfrm>
            <a:off x="5440680" y="3328416"/>
            <a:ext cx="3108960" cy="228600"/>
          </a:xfrm>
          <a:prstGeom prst="rect">
            <a:avLst/>
          </a:prstGeom>
          <a:noFill/>
          <a:ln/>
        </p:spPr>
        <p:txBody>
          <a:bodyPr wrap="square" lIns="0" tIns="0" rIns="0" bIns="0" rtlCol="0" anchor="t"/>
          <a:lstStyle/>
          <a:p>
            <a:pPr marL="0" indent="0">
              <a:buNone/>
            </a:pPr>
            <a:r>
              <a:rPr lang="en-US" sz="1050" dirty="0">
                <a:solidFill>
                  <a:srgbClr val="1B2540"/>
                </a:solidFill>
                <a:latin typeface="Calibri" pitchFamily="34" charset="0"/>
                <a:ea typeface="Calibri" pitchFamily="34" charset="-122"/>
                <a:cs typeface="Calibri" pitchFamily="34" charset="-120"/>
              </a:rPr>
              <a:t>how often the slope reverses</a:t>
            </a:r>
            <a:endParaRPr lang="en-US" sz="1050" dirty="0"/>
          </a:p>
        </p:txBody>
      </p:sp>
      <p:sp>
        <p:nvSpPr>
          <p:cNvPr id="34" name="Text 31"/>
          <p:cNvSpPr txBox="1"/>
          <p:nvPr/>
        </p:nvSpPr>
        <p:spPr>
          <a:xfrm>
            <a:off x="4800600" y="3675888"/>
            <a:ext cx="3749040" cy="365760"/>
          </a:xfrm>
          <a:prstGeom prst="rect">
            <a:avLst/>
          </a:prstGeom>
          <a:noFill/>
          <a:ln/>
        </p:spPr>
        <p:txBody>
          <a:bodyPr wrap="square" lIns="0" tIns="0" rIns="0" bIns="0" rtlCol="0" anchor="ctr"/>
          <a:lstStyle/>
          <a:p>
            <a:pPr marL="0" indent="0">
              <a:buNone/>
            </a:pPr>
            <a:r>
              <a:rPr lang="en-US" sz="1150" dirty="0">
                <a:solidFill>
                  <a:srgbClr val="1B2540"/>
                </a:solidFill>
                <a:latin typeface="Cambria Math" pitchFamily="34" charset="0"/>
                <a:ea typeface="Cambria Math" pitchFamily="34" charset="-122"/>
                <a:cs typeface="Cambria Math" pitchFamily="34" charset="-120"/>
              </a:rPr>
              <a:t>SSC = Σ [ (xᵢ − xᵢ₋₁)(xᵢ − xᵢ₊₁) ≥ thr ]</a:t>
            </a:r>
            <a:endParaRPr lang="en-US" sz="1150" dirty="0"/>
          </a:p>
        </p:txBody>
      </p:sp>
      <p:sp>
        <p:nvSpPr>
          <p:cNvPr id="35" name="Text 32"/>
          <p:cNvSpPr txBox="1"/>
          <p:nvPr/>
        </p:nvSpPr>
        <p:spPr>
          <a:xfrm>
            <a:off x="457200" y="4389120"/>
            <a:ext cx="8229600" cy="274320"/>
          </a:xfrm>
          <a:prstGeom prst="rect">
            <a:avLst/>
          </a:prstGeom>
          <a:noFill/>
          <a:ln/>
        </p:spPr>
        <p:txBody>
          <a:bodyPr wrap="square" lIns="0" tIns="0" rIns="0" bIns="0" rtlCol="0" anchor="t"/>
          <a:lstStyle/>
          <a:p>
            <a:pPr marL="0" indent="0" algn="ctr">
              <a:buNone/>
            </a:pPr>
            <a:r>
              <a:rPr lang="en-US" sz="1150" i="1" dirty="0">
                <a:solidFill>
                  <a:srgbClr val="1B2540"/>
                </a:solidFill>
                <a:latin typeface="Calibri" pitchFamily="34" charset="0"/>
                <a:ea typeface="Calibri" pitchFamily="34" charset="-122"/>
                <a:cs typeface="Calibri" pitchFamily="34" charset="-120"/>
              </a:rPr>
              <a:t>Time-domain features are fast and simple, ideal for low-cost real-time hardware.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EBE8"/>
        </a:solidFill>
        <a:effectLst/>
      </p:bgPr>
    </p:bg>
    <p:spTree>
      <p:nvGrpSpPr>
        <p:cNvPr id="1" name=""/>
        <p:cNvGrpSpPr/>
        <p:nvPr/>
      </p:nvGrpSpPr>
      <p:grpSpPr>
        <a:xfrm>
          <a:off x="0" y="0"/>
          <a:ext cx="0" cy="0"/>
          <a:chOff x="0" y="0"/>
          <a:chExt cx="0" cy="0"/>
        </a:xfrm>
      </p:grpSpPr>
      <p:sp>
        <p:nvSpPr>
          <p:cNvPr id="2" name="Text 0"/>
          <p:cNvSpPr txBox="1"/>
          <p:nvPr/>
        </p:nvSpPr>
        <p:spPr>
          <a:xfrm>
            <a:off x="457200" y="182880"/>
            <a:ext cx="5486400" cy="228600"/>
          </a:xfrm>
          <a:prstGeom prst="rect">
            <a:avLst/>
          </a:prstGeom>
          <a:noFill/>
          <a:ln/>
        </p:spPr>
        <p:txBody>
          <a:bodyPr wrap="square" lIns="0" tIns="0" rIns="0" bIns="0" rtlCol="0" anchor="ctr"/>
          <a:lstStyle/>
          <a:p>
            <a:pPr marL="0" indent="0">
              <a:buNone/>
            </a:pPr>
            <a:r>
              <a:rPr lang="en-US" sz="1100" b="1" kern="0" spc="400" dirty="0">
                <a:solidFill>
                  <a:srgbClr val="0F7B84"/>
                </a:solidFill>
                <a:latin typeface="Calibri" pitchFamily="34" charset="0"/>
                <a:ea typeface="Calibri" pitchFamily="34" charset="-122"/>
                <a:cs typeface="Calibri" pitchFamily="34" charset="-120"/>
              </a:rPr>
              <a:t>SECTION 4b</a:t>
            </a:r>
            <a:endParaRPr lang="en-US" sz="1100" dirty="0"/>
          </a:p>
        </p:txBody>
      </p:sp>
      <p:sp>
        <p:nvSpPr>
          <p:cNvPr id="3" name="Text 1"/>
          <p:cNvSpPr txBox="1"/>
          <p:nvPr/>
        </p:nvSpPr>
        <p:spPr>
          <a:xfrm>
            <a:off x="457200" y="411480"/>
            <a:ext cx="8229600" cy="548640"/>
          </a:xfrm>
          <a:prstGeom prst="rect">
            <a:avLst/>
          </a:prstGeom>
          <a:noFill/>
          <a:ln/>
        </p:spPr>
        <p:txBody>
          <a:bodyPr wrap="square" lIns="0" tIns="0" rIns="0" bIns="0" rtlCol="0" anchor="ctr"/>
          <a:lstStyle/>
          <a:p>
            <a:pPr marL="0" indent="0">
              <a:buNone/>
            </a:pPr>
            <a:r>
              <a:rPr lang="en-US" sz="2400" b="1" dirty="0">
                <a:solidFill>
                  <a:srgbClr val="0F7B84"/>
                </a:solidFill>
                <a:latin typeface="Georgia" pitchFamily="34" charset="0"/>
                <a:ea typeface="Georgia" pitchFamily="34" charset="-122"/>
                <a:cs typeface="Georgia" pitchFamily="34" charset="-120"/>
              </a:rPr>
              <a:t>Classification: Which Gesture Was It?</a:t>
            </a:r>
            <a:endParaRPr lang="en-US" sz="2400" dirty="0"/>
          </a:p>
        </p:txBody>
      </p:sp>
      <p:sp>
        <p:nvSpPr>
          <p:cNvPr id="4" name="Text 2"/>
          <p:cNvSpPr txBox="1"/>
          <p:nvPr/>
        </p:nvSpPr>
        <p:spPr>
          <a:xfrm>
            <a:off x="457200" y="4846320"/>
            <a:ext cx="3657600" cy="201168"/>
          </a:xfrm>
          <a:prstGeom prst="rect">
            <a:avLst/>
          </a:prstGeom>
          <a:noFill/>
          <a:ln/>
        </p:spPr>
        <p:txBody>
          <a:bodyPr wrap="square" lIns="0" tIns="0" rIns="0" bIns="0" rtlCol="0" anchor="ctr"/>
          <a:lstStyle/>
          <a:p>
            <a:pPr marL="0" indent="0">
              <a:buNone/>
            </a:pPr>
            <a:r>
              <a:rPr lang="en-US" sz="800" dirty="0">
                <a:solidFill>
                  <a:srgbClr val="1B2540"/>
                </a:solidFill>
                <a:latin typeface="Calibri" pitchFamily="34" charset="0"/>
                <a:ea typeface="Calibri" pitchFamily="34" charset="-122"/>
                <a:cs typeface="Calibri" pitchFamily="34" charset="-120"/>
              </a:rPr>
              <a:t>THOUGHT-CONTROLLED BIONIC HAND</a:t>
            </a:r>
            <a:endParaRPr lang="en-US" sz="800" dirty="0"/>
          </a:p>
        </p:txBody>
      </p:sp>
      <p:sp>
        <p:nvSpPr>
          <p:cNvPr id="5" name="Text 3"/>
          <p:cNvSpPr txBox="1"/>
          <p:nvPr/>
        </p:nvSpPr>
        <p:spPr>
          <a:xfrm>
            <a:off x="7772400" y="4846320"/>
            <a:ext cx="914400" cy="201168"/>
          </a:xfrm>
          <a:prstGeom prst="rect">
            <a:avLst/>
          </a:prstGeom>
          <a:noFill/>
          <a:ln/>
        </p:spPr>
        <p:txBody>
          <a:bodyPr wrap="square" lIns="0" tIns="0" rIns="0" bIns="0" rtlCol="0" anchor="ctr"/>
          <a:lstStyle/>
          <a:p>
            <a:pPr marL="0" indent="0" algn="r">
              <a:buNone/>
            </a:pPr>
            <a:r>
              <a:rPr lang="en-US" sz="800" dirty="0">
                <a:solidFill>
                  <a:srgbClr val="1B2540"/>
                </a:solidFill>
                <a:latin typeface="Calibri" pitchFamily="34" charset="0"/>
                <a:ea typeface="Calibri" pitchFamily="34" charset="-122"/>
                <a:cs typeface="Calibri" pitchFamily="34" charset="-120"/>
              </a:rPr>
              <a:t>09 / 16</a:t>
            </a:r>
            <a:endParaRPr lang="en-US" sz="800" dirty="0"/>
          </a:p>
        </p:txBody>
      </p:sp>
      <p:sp>
        <p:nvSpPr>
          <p:cNvPr id="6" name="Text 4"/>
          <p:cNvSpPr txBox="1"/>
          <p:nvPr/>
        </p:nvSpPr>
        <p:spPr>
          <a:xfrm>
            <a:off x="3931920" y="4846320"/>
            <a:ext cx="3749040" cy="201168"/>
          </a:xfrm>
          <a:prstGeom prst="rect">
            <a:avLst/>
          </a:prstGeom>
          <a:noFill/>
          <a:ln/>
        </p:spPr>
        <p:txBody>
          <a:bodyPr wrap="square" lIns="0" tIns="0" rIns="0" bIns="0" rtlCol="0" anchor="ctr"/>
          <a:lstStyle/>
          <a:p>
            <a:pPr marL="0" indent="0" algn="r">
              <a:buNone/>
            </a:pPr>
            <a:r>
              <a:rPr lang="en-US" sz="750" i="1" dirty="0">
                <a:solidFill>
                  <a:srgbClr val="1B2540"/>
                </a:solidFill>
                <a:latin typeface="Calibri" pitchFamily="34" charset="0"/>
                <a:ea typeface="Calibri" pitchFamily="34" charset="-122"/>
                <a:cs typeface="Calibri" pitchFamily="34" charset="-120"/>
              </a:rPr>
              <a:t>Sources: Tavakoli et al., 2017; Shi et al., 2018</a:t>
            </a:r>
            <a:endParaRPr lang="en-US" sz="750" dirty="0"/>
          </a:p>
        </p:txBody>
      </p:sp>
      <p:sp>
        <p:nvSpPr>
          <p:cNvPr id="8" name="Shape 5"/>
          <p:cNvSpPr/>
          <p:nvPr/>
        </p:nvSpPr>
        <p:spPr>
          <a:xfrm>
            <a:off x="457200" y="1097280"/>
            <a:ext cx="4023360" cy="3017520"/>
          </a:xfrm>
          <a:prstGeom prst="rect">
            <a:avLst/>
          </a:prstGeom>
          <a:solidFill>
            <a:srgbClr val="FFDDD8"/>
          </a:solidFill>
          <a:ln w="12700">
            <a:solidFill>
              <a:srgbClr val="FFDDD8"/>
            </a:solidFill>
            <a:prstDash val="solid"/>
          </a:ln>
        </p:spPr>
        <p:txBody>
          <a:bodyPr/>
          <a:lstStyle/>
          <a:p>
            <a:endParaRPr lang="en-IN"/>
          </a:p>
        </p:txBody>
      </p:sp>
      <p:sp>
        <p:nvSpPr>
          <p:cNvPr id="9" name="Text 6"/>
          <p:cNvSpPr txBox="1"/>
          <p:nvPr/>
        </p:nvSpPr>
        <p:spPr>
          <a:xfrm>
            <a:off x="594360" y="1188720"/>
            <a:ext cx="3657600" cy="274320"/>
          </a:xfrm>
          <a:prstGeom prst="rect">
            <a:avLst/>
          </a:prstGeom>
          <a:noFill/>
          <a:ln/>
        </p:spPr>
        <p:txBody>
          <a:bodyPr wrap="square" lIns="0" tIns="0" rIns="0" bIns="0" rtlCol="0" anchor="t"/>
          <a:lstStyle/>
          <a:p>
            <a:pPr marL="0" indent="0">
              <a:buNone/>
            </a:pPr>
            <a:r>
              <a:rPr lang="en-US" sz="1400" b="1" dirty="0">
                <a:solidFill>
                  <a:srgbClr val="0F7B84"/>
                </a:solidFill>
                <a:latin typeface="Georgia" pitchFamily="34" charset="0"/>
                <a:ea typeface="Georgia" pitchFamily="34" charset="-122"/>
                <a:cs typeface="Georgia" pitchFamily="34" charset="-120"/>
              </a:rPr>
              <a:t>SVM · one-vs-rest</a:t>
            </a:r>
            <a:endParaRPr lang="en-US" sz="1400" dirty="0"/>
          </a:p>
        </p:txBody>
      </p:sp>
      <p:sp>
        <p:nvSpPr>
          <p:cNvPr id="10" name="Shape 7"/>
          <p:cNvSpPr/>
          <p:nvPr/>
        </p:nvSpPr>
        <p:spPr>
          <a:xfrm>
            <a:off x="594360" y="1645920"/>
            <a:ext cx="960120" cy="457200"/>
          </a:xfrm>
          <a:prstGeom prst="rect">
            <a:avLst/>
          </a:prstGeom>
          <a:solidFill>
            <a:srgbClr val="FFFFFF"/>
          </a:solidFill>
          <a:ln w="12700">
            <a:solidFill>
              <a:srgbClr val="FFFFFF"/>
            </a:solidFill>
            <a:prstDash val="solid"/>
          </a:ln>
        </p:spPr>
        <p:txBody>
          <a:bodyPr/>
          <a:lstStyle/>
          <a:p>
            <a:endParaRPr lang="en-IN"/>
          </a:p>
        </p:txBody>
      </p:sp>
      <p:sp>
        <p:nvSpPr>
          <p:cNvPr id="11" name="Text 8"/>
          <p:cNvSpPr txBox="1"/>
          <p:nvPr/>
        </p:nvSpPr>
        <p:spPr>
          <a:xfrm>
            <a:off x="667512" y="1709928"/>
            <a:ext cx="813816" cy="274320"/>
          </a:xfrm>
          <a:prstGeom prst="rect">
            <a:avLst/>
          </a:prstGeom>
          <a:noFill/>
          <a:ln/>
        </p:spPr>
        <p:txBody>
          <a:bodyPr wrap="square" lIns="0" tIns="0" rIns="0" bIns="0" rtlCol="0" anchor="t"/>
          <a:lstStyle/>
          <a:p>
            <a:pPr marL="0" indent="0" algn="ctr">
              <a:buNone/>
            </a:pPr>
            <a:r>
              <a:rPr lang="en-US" sz="1200" b="1" dirty="0">
                <a:solidFill>
                  <a:srgbClr val="0F7B84"/>
                </a:solidFill>
                <a:latin typeface="Calibri" pitchFamily="34" charset="0"/>
                <a:ea typeface="Calibri" pitchFamily="34" charset="-122"/>
                <a:cs typeface="Calibri" pitchFamily="34" charset="-120"/>
              </a:rPr>
              <a:t>Features</a:t>
            </a:r>
            <a:endParaRPr lang="en-US" sz="1200" dirty="0"/>
          </a:p>
        </p:txBody>
      </p:sp>
      <p:sp>
        <p:nvSpPr>
          <p:cNvPr id="12" name="Shape 9"/>
          <p:cNvSpPr/>
          <p:nvPr/>
        </p:nvSpPr>
        <p:spPr>
          <a:xfrm>
            <a:off x="1783080" y="1645920"/>
            <a:ext cx="1280160" cy="457200"/>
          </a:xfrm>
          <a:prstGeom prst="rect">
            <a:avLst/>
          </a:prstGeom>
          <a:solidFill>
            <a:srgbClr val="E85D4F"/>
          </a:solidFill>
          <a:ln w="12700">
            <a:solidFill>
              <a:srgbClr val="E85D4F"/>
            </a:solidFill>
            <a:prstDash val="solid"/>
          </a:ln>
        </p:spPr>
        <p:txBody>
          <a:bodyPr/>
          <a:lstStyle/>
          <a:p>
            <a:endParaRPr lang="en-IN"/>
          </a:p>
        </p:txBody>
      </p:sp>
      <p:sp>
        <p:nvSpPr>
          <p:cNvPr id="13" name="Text 10"/>
          <p:cNvSpPr txBox="1"/>
          <p:nvPr/>
        </p:nvSpPr>
        <p:spPr>
          <a:xfrm>
            <a:off x="1856232" y="1709928"/>
            <a:ext cx="1133856" cy="274320"/>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Close vs rest?</a:t>
            </a:r>
            <a:endParaRPr lang="en-US" sz="1200" dirty="0"/>
          </a:p>
        </p:txBody>
      </p:sp>
      <p:sp>
        <p:nvSpPr>
          <p:cNvPr id="14" name="Shape 11"/>
          <p:cNvSpPr/>
          <p:nvPr/>
        </p:nvSpPr>
        <p:spPr>
          <a:xfrm>
            <a:off x="3291840" y="1645920"/>
            <a:ext cx="1051560" cy="457200"/>
          </a:xfrm>
          <a:prstGeom prst="rect">
            <a:avLst/>
          </a:prstGeom>
          <a:solidFill>
            <a:srgbClr val="FFFFFF"/>
          </a:solidFill>
          <a:ln w="12700">
            <a:solidFill>
              <a:srgbClr val="FFFFFF"/>
            </a:solidFill>
            <a:prstDash val="solid"/>
          </a:ln>
        </p:spPr>
        <p:txBody>
          <a:bodyPr/>
          <a:lstStyle/>
          <a:p>
            <a:endParaRPr lang="en-IN"/>
          </a:p>
        </p:txBody>
      </p:sp>
      <p:sp>
        <p:nvSpPr>
          <p:cNvPr id="15" name="Text 12"/>
          <p:cNvSpPr txBox="1"/>
          <p:nvPr/>
        </p:nvSpPr>
        <p:spPr>
          <a:xfrm>
            <a:off x="3364992" y="1709928"/>
            <a:ext cx="905256" cy="274320"/>
          </a:xfrm>
          <a:prstGeom prst="rect">
            <a:avLst/>
          </a:prstGeom>
          <a:noFill/>
          <a:ln/>
        </p:spPr>
        <p:txBody>
          <a:bodyPr wrap="square" lIns="0" tIns="0" rIns="0" bIns="0" rtlCol="0" anchor="t"/>
          <a:lstStyle/>
          <a:p>
            <a:pPr marL="0" indent="0" algn="ctr">
              <a:buNone/>
            </a:pPr>
            <a:r>
              <a:rPr lang="en-US" sz="1200" b="1" dirty="0">
                <a:solidFill>
                  <a:srgbClr val="0F7B84"/>
                </a:solidFill>
                <a:latin typeface="Calibri" pitchFamily="34" charset="0"/>
                <a:ea typeface="Calibri" pitchFamily="34" charset="-122"/>
                <a:cs typeface="Calibri" pitchFamily="34" charset="-120"/>
              </a:rPr>
              <a:t>CLOSE</a:t>
            </a:r>
            <a:endParaRPr lang="en-US" sz="1200" dirty="0"/>
          </a:p>
        </p:txBody>
      </p:sp>
      <p:sp>
        <p:nvSpPr>
          <p:cNvPr id="16" name="Shape 13"/>
          <p:cNvSpPr/>
          <p:nvPr/>
        </p:nvSpPr>
        <p:spPr>
          <a:xfrm>
            <a:off x="1572768" y="1874520"/>
            <a:ext cx="192024" cy="0"/>
          </a:xfrm>
          <a:prstGeom prst="line">
            <a:avLst/>
          </a:prstGeom>
          <a:noFill/>
          <a:ln w="25400">
            <a:solidFill>
              <a:srgbClr val="E85D4F"/>
            </a:solidFill>
            <a:prstDash val="solid"/>
            <a:tailEnd type="triangle"/>
          </a:ln>
        </p:spPr>
        <p:txBody>
          <a:bodyPr/>
          <a:lstStyle/>
          <a:p>
            <a:endParaRPr lang="en-IN"/>
          </a:p>
        </p:txBody>
      </p:sp>
      <p:sp>
        <p:nvSpPr>
          <p:cNvPr id="17" name="Shape 14"/>
          <p:cNvSpPr/>
          <p:nvPr/>
        </p:nvSpPr>
        <p:spPr>
          <a:xfrm>
            <a:off x="3081528" y="1874520"/>
            <a:ext cx="192024" cy="0"/>
          </a:xfrm>
          <a:prstGeom prst="line">
            <a:avLst/>
          </a:prstGeom>
          <a:noFill/>
          <a:ln w="25400">
            <a:solidFill>
              <a:srgbClr val="E85D4F"/>
            </a:solidFill>
            <a:prstDash val="solid"/>
            <a:tailEnd type="triangle"/>
          </a:ln>
        </p:spPr>
        <p:txBody>
          <a:bodyPr/>
          <a:lstStyle/>
          <a:p>
            <a:endParaRPr lang="en-IN"/>
          </a:p>
        </p:txBody>
      </p:sp>
      <p:sp>
        <p:nvSpPr>
          <p:cNvPr id="18" name="Shape 15"/>
          <p:cNvSpPr/>
          <p:nvPr/>
        </p:nvSpPr>
        <p:spPr>
          <a:xfrm>
            <a:off x="2423160" y="2121408"/>
            <a:ext cx="0" cy="384048"/>
          </a:xfrm>
          <a:prstGeom prst="line">
            <a:avLst/>
          </a:prstGeom>
          <a:noFill/>
          <a:ln w="25400">
            <a:solidFill>
              <a:srgbClr val="E85D4F"/>
            </a:solidFill>
            <a:prstDash val="solid"/>
            <a:tailEnd type="triangle"/>
          </a:ln>
        </p:spPr>
        <p:txBody>
          <a:bodyPr/>
          <a:lstStyle/>
          <a:p>
            <a:endParaRPr lang="en-IN"/>
          </a:p>
        </p:txBody>
      </p:sp>
      <p:sp>
        <p:nvSpPr>
          <p:cNvPr id="19" name="Text 16"/>
          <p:cNvSpPr txBox="1"/>
          <p:nvPr/>
        </p:nvSpPr>
        <p:spPr>
          <a:xfrm>
            <a:off x="2487168" y="2221992"/>
            <a:ext cx="365760" cy="182880"/>
          </a:xfrm>
          <a:prstGeom prst="rect">
            <a:avLst/>
          </a:prstGeom>
          <a:noFill/>
          <a:ln/>
        </p:spPr>
        <p:txBody>
          <a:bodyPr wrap="square" lIns="0" tIns="0" rIns="0" bIns="0" rtlCol="0" anchor="t"/>
          <a:lstStyle/>
          <a:p>
            <a:pPr marL="0" indent="0">
              <a:buNone/>
            </a:pPr>
            <a:r>
              <a:rPr lang="en-US" sz="900" i="1" dirty="0">
                <a:solidFill>
                  <a:srgbClr val="1B2540"/>
                </a:solidFill>
                <a:latin typeface="Calibri" pitchFamily="34" charset="0"/>
                <a:ea typeface="Calibri" pitchFamily="34" charset="-122"/>
                <a:cs typeface="Calibri" pitchFamily="34" charset="-120"/>
              </a:rPr>
              <a:t>no</a:t>
            </a:r>
            <a:endParaRPr lang="en-US" sz="900" dirty="0"/>
          </a:p>
        </p:txBody>
      </p:sp>
      <p:sp>
        <p:nvSpPr>
          <p:cNvPr id="20" name="Shape 17"/>
          <p:cNvSpPr/>
          <p:nvPr/>
        </p:nvSpPr>
        <p:spPr>
          <a:xfrm>
            <a:off x="1783080" y="2523744"/>
            <a:ext cx="1280160" cy="457200"/>
          </a:xfrm>
          <a:prstGeom prst="rect">
            <a:avLst/>
          </a:prstGeom>
          <a:solidFill>
            <a:srgbClr val="E85D4F"/>
          </a:solidFill>
          <a:ln w="12700">
            <a:solidFill>
              <a:srgbClr val="E85D4F"/>
            </a:solidFill>
            <a:prstDash val="solid"/>
          </a:ln>
        </p:spPr>
        <p:txBody>
          <a:bodyPr/>
          <a:lstStyle/>
          <a:p>
            <a:endParaRPr lang="en-IN"/>
          </a:p>
        </p:txBody>
      </p:sp>
      <p:sp>
        <p:nvSpPr>
          <p:cNvPr id="21" name="Text 18"/>
          <p:cNvSpPr txBox="1"/>
          <p:nvPr/>
        </p:nvSpPr>
        <p:spPr>
          <a:xfrm>
            <a:off x="1856232" y="2587752"/>
            <a:ext cx="1133856" cy="274320"/>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Open vs Change?</a:t>
            </a:r>
            <a:endParaRPr lang="en-US" sz="1200" dirty="0"/>
          </a:p>
        </p:txBody>
      </p:sp>
      <p:sp>
        <p:nvSpPr>
          <p:cNvPr id="22" name="Shape 19"/>
          <p:cNvSpPr/>
          <p:nvPr/>
        </p:nvSpPr>
        <p:spPr>
          <a:xfrm>
            <a:off x="3291840" y="2523744"/>
            <a:ext cx="1051560" cy="457200"/>
          </a:xfrm>
          <a:prstGeom prst="rect">
            <a:avLst/>
          </a:prstGeom>
          <a:solidFill>
            <a:srgbClr val="FFFFFF"/>
          </a:solidFill>
          <a:ln w="12700">
            <a:solidFill>
              <a:srgbClr val="FFFFFF"/>
            </a:solidFill>
            <a:prstDash val="solid"/>
          </a:ln>
        </p:spPr>
        <p:txBody>
          <a:bodyPr/>
          <a:lstStyle/>
          <a:p>
            <a:endParaRPr lang="en-IN"/>
          </a:p>
        </p:txBody>
      </p:sp>
      <p:sp>
        <p:nvSpPr>
          <p:cNvPr id="23" name="Text 20"/>
          <p:cNvSpPr txBox="1"/>
          <p:nvPr/>
        </p:nvSpPr>
        <p:spPr>
          <a:xfrm>
            <a:off x="3364992" y="2587752"/>
            <a:ext cx="905256" cy="274320"/>
          </a:xfrm>
          <a:prstGeom prst="rect">
            <a:avLst/>
          </a:prstGeom>
          <a:noFill/>
          <a:ln/>
        </p:spPr>
        <p:txBody>
          <a:bodyPr wrap="square" lIns="0" tIns="0" rIns="0" bIns="0" rtlCol="0" anchor="t"/>
          <a:lstStyle/>
          <a:p>
            <a:pPr marL="0" indent="0" algn="ctr">
              <a:buNone/>
            </a:pPr>
            <a:r>
              <a:rPr lang="en-US" sz="1200" b="1" dirty="0">
                <a:solidFill>
                  <a:srgbClr val="0F7B84"/>
                </a:solidFill>
                <a:latin typeface="Calibri" pitchFamily="34" charset="0"/>
                <a:ea typeface="Calibri" pitchFamily="34" charset="-122"/>
                <a:cs typeface="Calibri" pitchFamily="34" charset="-120"/>
              </a:rPr>
              <a:t>OPEN / CHANGE</a:t>
            </a:r>
            <a:endParaRPr lang="en-US" sz="1200" dirty="0"/>
          </a:p>
        </p:txBody>
      </p:sp>
      <p:sp>
        <p:nvSpPr>
          <p:cNvPr id="24" name="Shape 21"/>
          <p:cNvSpPr/>
          <p:nvPr/>
        </p:nvSpPr>
        <p:spPr>
          <a:xfrm>
            <a:off x="3081528" y="2752344"/>
            <a:ext cx="192024" cy="0"/>
          </a:xfrm>
          <a:prstGeom prst="line">
            <a:avLst/>
          </a:prstGeom>
          <a:noFill/>
          <a:ln w="25400">
            <a:solidFill>
              <a:srgbClr val="E85D4F"/>
            </a:solidFill>
            <a:prstDash val="solid"/>
            <a:tailEnd type="triangle"/>
          </a:ln>
        </p:spPr>
        <p:txBody>
          <a:bodyPr/>
          <a:lstStyle/>
          <a:p>
            <a:endParaRPr lang="en-IN"/>
          </a:p>
        </p:txBody>
      </p:sp>
      <p:sp>
        <p:nvSpPr>
          <p:cNvPr id="25" name="Text 22"/>
          <p:cNvSpPr txBox="1"/>
          <p:nvPr/>
        </p:nvSpPr>
        <p:spPr>
          <a:xfrm>
            <a:off x="594360" y="3200400"/>
            <a:ext cx="3749040" cy="201168"/>
          </a:xfrm>
          <a:prstGeom prst="rect">
            <a:avLst/>
          </a:prstGeom>
          <a:noFill/>
          <a:ln/>
        </p:spPr>
        <p:txBody>
          <a:bodyPr wrap="square" lIns="0" tIns="0" rIns="0" bIns="0" rtlCol="0" anchor="t"/>
          <a:lstStyle/>
          <a:p>
            <a:pPr marL="0" indent="0">
              <a:buNone/>
            </a:pPr>
            <a:r>
              <a:rPr lang="en-US" sz="950" i="1" dirty="0">
                <a:solidFill>
                  <a:srgbClr val="1B2540"/>
                </a:solidFill>
                <a:latin typeface="Calibri" pitchFamily="34" charset="0"/>
                <a:ea typeface="Calibri" pitchFamily="34" charset="-122"/>
                <a:cs typeface="Calibri" pitchFamily="34" charset="-120"/>
              </a:rPr>
              <a:t>Gaussian kernel (similarity of two feature points)</a:t>
            </a:r>
            <a:endParaRPr lang="en-US" sz="950" dirty="0"/>
          </a:p>
        </p:txBody>
      </p:sp>
      <p:sp>
        <p:nvSpPr>
          <p:cNvPr id="26" name="Text 23"/>
          <p:cNvSpPr txBox="1"/>
          <p:nvPr/>
        </p:nvSpPr>
        <p:spPr>
          <a:xfrm>
            <a:off x="594360" y="3456432"/>
            <a:ext cx="3749040" cy="365760"/>
          </a:xfrm>
          <a:prstGeom prst="rect">
            <a:avLst/>
          </a:prstGeom>
          <a:noFill/>
          <a:ln/>
        </p:spPr>
        <p:txBody>
          <a:bodyPr wrap="square" lIns="0" tIns="0" rIns="0" bIns="0" rtlCol="0" anchor="ctr"/>
          <a:lstStyle/>
          <a:p>
            <a:pPr marL="0" indent="0">
              <a:buNone/>
            </a:pPr>
            <a:r>
              <a:rPr lang="en-US" sz="1400" dirty="0">
                <a:solidFill>
                  <a:srgbClr val="1B2540"/>
                </a:solidFill>
                <a:latin typeface="Cambria Math" pitchFamily="34" charset="0"/>
                <a:ea typeface="Cambria Math" pitchFamily="34" charset="-122"/>
                <a:cs typeface="Cambria Math" pitchFamily="34" charset="-120"/>
              </a:rPr>
              <a:t>K(xᵢ,xⱼ) = e^( −‖xᵢ − xⱼ‖² / 2σ )</a:t>
            </a:r>
            <a:endParaRPr lang="en-US" sz="1400" dirty="0"/>
          </a:p>
        </p:txBody>
      </p:sp>
      <p:sp>
        <p:nvSpPr>
          <p:cNvPr id="27" name="Shape 24"/>
          <p:cNvSpPr/>
          <p:nvPr/>
        </p:nvSpPr>
        <p:spPr>
          <a:xfrm>
            <a:off x="4663440" y="1097280"/>
            <a:ext cx="4023360" cy="3017520"/>
          </a:xfrm>
          <a:prstGeom prst="rect">
            <a:avLst/>
          </a:prstGeom>
          <a:solidFill>
            <a:srgbClr val="FFDDD8"/>
          </a:solidFill>
          <a:ln w="12700">
            <a:solidFill>
              <a:srgbClr val="FFDDD8"/>
            </a:solidFill>
            <a:prstDash val="solid"/>
          </a:ln>
        </p:spPr>
        <p:txBody>
          <a:bodyPr/>
          <a:lstStyle/>
          <a:p>
            <a:endParaRPr lang="en-IN"/>
          </a:p>
        </p:txBody>
      </p:sp>
      <p:sp>
        <p:nvSpPr>
          <p:cNvPr id="28" name="Text 25"/>
          <p:cNvSpPr txBox="1"/>
          <p:nvPr/>
        </p:nvSpPr>
        <p:spPr>
          <a:xfrm>
            <a:off x="4800600" y="1188720"/>
            <a:ext cx="3657600" cy="274320"/>
          </a:xfrm>
          <a:prstGeom prst="rect">
            <a:avLst/>
          </a:prstGeom>
          <a:noFill/>
          <a:ln/>
        </p:spPr>
        <p:txBody>
          <a:bodyPr wrap="square" lIns="0" tIns="0" rIns="0" bIns="0" rtlCol="0" anchor="t"/>
          <a:lstStyle/>
          <a:p>
            <a:pPr marL="0" indent="0">
              <a:buNone/>
            </a:pPr>
            <a:r>
              <a:rPr lang="en-US" sz="1400" b="1" dirty="0">
                <a:solidFill>
                  <a:srgbClr val="0F7B84"/>
                </a:solidFill>
                <a:latin typeface="Georgia" pitchFamily="34" charset="0"/>
                <a:ea typeface="Georgia" pitchFamily="34" charset="-122"/>
                <a:cs typeface="Georgia" pitchFamily="34" charset="-120"/>
              </a:rPr>
              <a:t>k-Nearest Neighbours</a:t>
            </a:r>
            <a:endParaRPr lang="en-US" sz="1400" dirty="0"/>
          </a:p>
        </p:txBody>
      </p:sp>
      <p:sp>
        <p:nvSpPr>
          <p:cNvPr id="29" name="Shape 26"/>
          <p:cNvSpPr/>
          <p:nvPr/>
        </p:nvSpPr>
        <p:spPr>
          <a:xfrm>
            <a:off x="5989320" y="1783080"/>
            <a:ext cx="1188720" cy="1188720"/>
          </a:xfrm>
          <a:prstGeom prst="ellipse">
            <a:avLst/>
          </a:prstGeom>
          <a:solidFill>
            <a:srgbClr val="FFFFFF">
              <a:alpha val="0"/>
            </a:srgbClr>
          </a:solidFill>
          <a:ln w="15875">
            <a:solidFill>
              <a:srgbClr val="1B2540"/>
            </a:solidFill>
            <a:prstDash val="dash"/>
          </a:ln>
        </p:spPr>
        <p:txBody>
          <a:bodyPr/>
          <a:lstStyle/>
          <a:p>
            <a:endParaRPr lang="en-IN"/>
          </a:p>
        </p:txBody>
      </p:sp>
      <p:sp>
        <p:nvSpPr>
          <p:cNvPr id="30" name="Shape 27"/>
          <p:cNvSpPr/>
          <p:nvPr/>
        </p:nvSpPr>
        <p:spPr>
          <a:xfrm>
            <a:off x="5212080" y="1828800"/>
            <a:ext cx="137160" cy="137160"/>
          </a:xfrm>
          <a:prstGeom prst="ellipse">
            <a:avLst/>
          </a:prstGeom>
          <a:solidFill>
            <a:srgbClr val="E85D4F"/>
          </a:solidFill>
          <a:ln w="12700">
            <a:solidFill>
              <a:srgbClr val="E85D4F"/>
            </a:solidFill>
            <a:prstDash val="solid"/>
          </a:ln>
        </p:spPr>
        <p:txBody>
          <a:bodyPr/>
          <a:lstStyle/>
          <a:p>
            <a:endParaRPr lang="en-IN"/>
          </a:p>
        </p:txBody>
      </p:sp>
      <p:sp>
        <p:nvSpPr>
          <p:cNvPr id="31" name="Shape 28"/>
          <p:cNvSpPr/>
          <p:nvPr/>
        </p:nvSpPr>
        <p:spPr>
          <a:xfrm>
            <a:off x="5440680" y="2148840"/>
            <a:ext cx="137160" cy="137160"/>
          </a:xfrm>
          <a:prstGeom prst="ellipse">
            <a:avLst/>
          </a:prstGeom>
          <a:solidFill>
            <a:srgbClr val="E85D4F"/>
          </a:solidFill>
          <a:ln w="12700">
            <a:solidFill>
              <a:srgbClr val="E85D4F"/>
            </a:solidFill>
            <a:prstDash val="solid"/>
          </a:ln>
        </p:spPr>
        <p:txBody>
          <a:bodyPr/>
          <a:lstStyle/>
          <a:p>
            <a:endParaRPr lang="en-IN"/>
          </a:p>
        </p:txBody>
      </p:sp>
      <p:sp>
        <p:nvSpPr>
          <p:cNvPr id="32" name="Shape 29"/>
          <p:cNvSpPr/>
          <p:nvPr/>
        </p:nvSpPr>
        <p:spPr>
          <a:xfrm>
            <a:off x="5166360" y="2377440"/>
            <a:ext cx="137160" cy="137160"/>
          </a:xfrm>
          <a:prstGeom prst="ellipse">
            <a:avLst/>
          </a:prstGeom>
          <a:solidFill>
            <a:srgbClr val="E85D4F"/>
          </a:solidFill>
          <a:ln w="12700">
            <a:solidFill>
              <a:srgbClr val="E85D4F"/>
            </a:solidFill>
            <a:prstDash val="solid"/>
          </a:ln>
        </p:spPr>
        <p:txBody>
          <a:bodyPr/>
          <a:lstStyle/>
          <a:p>
            <a:endParaRPr lang="en-IN"/>
          </a:p>
        </p:txBody>
      </p:sp>
      <p:sp>
        <p:nvSpPr>
          <p:cNvPr id="33" name="Shape 30"/>
          <p:cNvSpPr/>
          <p:nvPr/>
        </p:nvSpPr>
        <p:spPr>
          <a:xfrm>
            <a:off x="5669280" y="2560320"/>
            <a:ext cx="137160" cy="137160"/>
          </a:xfrm>
          <a:prstGeom prst="ellipse">
            <a:avLst/>
          </a:prstGeom>
          <a:solidFill>
            <a:srgbClr val="E85D4F"/>
          </a:solidFill>
          <a:ln w="12700">
            <a:solidFill>
              <a:srgbClr val="E85D4F"/>
            </a:solidFill>
            <a:prstDash val="solid"/>
          </a:ln>
        </p:spPr>
        <p:txBody>
          <a:bodyPr/>
          <a:lstStyle/>
          <a:p>
            <a:endParaRPr lang="en-IN"/>
          </a:p>
        </p:txBody>
      </p:sp>
      <p:sp>
        <p:nvSpPr>
          <p:cNvPr id="34" name="Shape 31"/>
          <p:cNvSpPr/>
          <p:nvPr/>
        </p:nvSpPr>
        <p:spPr>
          <a:xfrm>
            <a:off x="6355080" y="2240280"/>
            <a:ext cx="137160" cy="137160"/>
          </a:xfrm>
          <a:prstGeom prst="ellipse">
            <a:avLst/>
          </a:prstGeom>
          <a:solidFill>
            <a:srgbClr val="E85D4F"/>
          </a:solidFill>
          <a:ln w="12700">
            <a:solidFill>
              <a:srgbClr val="E85D4F"/>
            </a:solidFill>
            <a:prstDash val="solid"/>
          </a:ln>
        </p:spPr>
        <p:txBody>
          <a:bodyPr/>
          <a:lstStyle/>
          <a:p>
            <a:endParaRPr lang="en-IN"/>
          </a:p>
        </p:txBody>
      </p:sp>
      <p:sp>
        <p:nvSpPr>
          <p:cNvPr id="35" name="Shape 32"/>
          <p:cNvSpPr/>
          <p:nvPr/>
        </p:nvSpPr>
        <p:spPr>
          <a:xfrm>
            <a:off x="6446520" y="2697480"/>
            <a:ext cx="137160" cy="137160"/>
          </a:xfrm>
          <a:prstGeom prst="ellipse">
            <a:avLst/>
          </a:prstGeom>
          <a:solidFill>
            <a:srgbClr val="E85D4F"/>
          </a:solidFill>
          <a:ln w="12700">
            <a:solidFill>
              <a:srgbClr val="E85D4F"/>
            </a:solidFill>
            <a:prstDash val="solid"/>
          </a:ln>
        </p:spPr>
        <p:txBody>
          <a:bodyPr/>
          <a:lstStyle/>
          <a:p>
            <a:endParaRPr lang="en-IN"/>
          </a:p>
        </p:txBody>
      </p:sp>
      <p:sp>
        <p:nvSpPr>
          <p:cNvPr id="36" name="Shape 33"/>
          <p:cNvSpPr/>
          <p:nvPr/>
        </p:nvSpPr>
        <p:spPr>
          <a:xfrm>
            <a:off x="7863840" y="1828800"/>
            <a:ext cx="137160" cy="137160"/>
          </a:xfrm>
          <a:prstGeom prst="ellipse">
            <a:avLst/>
          </a:prstGeom>
          <a:solidFill>
            <a:srgbClr val="0F7B84"/>
          </a:solidFill>
          <a:ln w="12700">
            <a:solidFill>
              <a:srgbClr val="0F7B84"/>
            </a:solidFill>
            <a:prstDash val="solid"/>
          </a:ln>
        </p:spPr>
        <p:txBody>
          <a:bodyPr/>
          <a:lstStyle/>
          <a:p>
            <a:endParaRPr lang="en-IN"/>
          </a:p>
        </p:txBody>
      </p:sp>
      <p:sp>
        <p:nvSpPr>
          <p:cNvPr id="37" name="Shape 34"/>
          <p:cNvSpPr/>
          <p:nvPr/>
        </p:nvSpPr>
        <p:spPr>
          <a:xfrm>
            <a:off x="8092440" y="2194560"/>
            <a:ext cx="137160" cy="137160"/>
          </a:xfrm>
          <a:prstGeom prst="ellipse">
            <a:avLst/>
          </a:prstGeom>
          <a:solidFill>
            <a:srgbClr val="0F7B84"/>
          </a:solidFill>
          <a:ln w="12700">
            <a:solidFill>
              <a:srgbClr val="0F7B84"/>
            </a:solidFill>
            <a:prstDash val="solid"/>
          </a:ln>
        </p:spPr>
        <p:txBody>
          <a:bodyPr/>
          <a:lstStyle/>
          <a:p>
            <a:endParaRPr lang="en-IN"/>
          </a:p>
        </p:txBody>
      </p:sp>
      <p:sp>
        <p:nvSpPr>
          <p:cNvPr id="38" name="Shape 35"/>
          <p:cNvSpPr/>
          <p:nvPr/>
        </p:nvSpPr>
        <p:spPr>
          <a:xfrm>
            <a:off x="7818120" y="2514600"/>
            <a:ext cx="137160" cy="137160"/>
          </a:xfrm>
          <a:prstGeom prst="ellipse">
            <a:avLst/>
          </a:prstGeom>
          <a:solidFill>
            <a:srgbClr val="0F7B84"/>
          </a:solidFill>
          <a:ln w="12700">
            <a:solidFill>
              <a:srgbClr val="0F7B84"/>
            </a:solidFill>
            <a:prstDash val="solid"/>
          </a:ln>
        </p:spPr>
        <p:txBody>
          <a:bodyPr/>
          <a:lstStyle/>
          <a:p>
            <a:endParaRPr lang="en-IN"/>
          </a:p>
        </p:txBody>
      </p:sp>
      <p:sp>
        <p:nvSpPr>
          <p:cNvPr id="39" name="Shape 36"/>
          <p:cNvSpPr/>
          <p:nvPr/>
        </p:nvSpPr>
        <p:spPr>
          <a:xfrm>
            <a:off x="7498080" y="2743200"/>
            <a:ext cx="137160" cy="137160"/>
          </a:xfrm>
          <a:prstGeom prst="ellipse">
            <a:avLst/>
          </a:prstGeom>
          <a:solidFill>
            <a:srgbClr val="0F7B84"/>
          </a:solidFill>
          <a:ln w="12700">
            <a:solidFill>
              <a:srgbClr val="0F7B84"/>
            </a:solidFill>
            <a:prstDash val="solid"/>
          </a:ln>
        </p:spPr>
        <p:txBody>
          <a:bodyPr/>
          <a:lstStyle/>
          <a:p>
            <a:endParaRPr lang="en-IN"/>
          </a:p>
        </p:txBody>
      </p:sp>
      <p:sp>
        <p:nvSpPr>
          <p:cNvPr id="40" name="Shape 37"/>
          <p:cNvSpPr/>
          <p:nvPr/>
        </p:nvSpPr>
        <p:spPr>
          <a:xfrm>
            <a:off x="6995160" y="2148840"/>
            <a:ext cx="137160" cy="137160"/>
          </a:xfrm>
          <a:prstGeom prst="ellipse">
            <a:avLst/>
          </a:prstGeom>
          <a:solidFill>
            <a:srgbClr val="0F7B84"/>
          </a:solidFill>
          <a:ln w="12700">
            <a:solidFill>
              <a:srgbClr val="0F7B84"/>
            </a:solidFill>
            <a:prstDash val="solid"/>
          </a:ln>
        </p:spPr>
        <p:txBody>
          <a:bodyPr/>
          <a:lstStyle/>
          <a:p>
            <a:endParaRPr lang="en-IN"/>
          </a:p>
        </p:txBody>
      </p:sp>
      <p:sp>
        <p:nvSpPr>
          <p:cNvPr id="41" name="Shape 38"/>
          <p:cNvSpPr/>
          <p:nvPr/>
        </p:nvSpPr>
        <p:spPr>
          <a:xfrm>
            <a:off x="7040880" y="2606040"/>
            <a:ext cx="137160" cy="137160"/>
          </a:xfrm>
          <a:prstGeom prst="ellipse">
            <a:avLst/>
          </a:prstGeom>
          <a:solidFill>
            <a:srgbClr val="0F7B84"/>
          </a:solidFill>
          <a:ln w="12700">
            <a:solidFill>
              <a:srgbClr val="0F7B84"/>
            </a:solidFill>
            <a:prstDash val="solid"/>
          </a:ln>
        </p:spPr>
        <p:txBody>
          <a:bodyPr/>
          <a:lstStyle/>
          <a:p>
            <a:endParaRPr lang="en-IN"/>
          </a:p>
        </p:txBody>
      </p:sp>
      <p:sp>
        <p:nvSpPr>
          <p:cNvPr id="42" name="Shape 39"/>
          <p:cNvSpPr/>
          <p:nvPr/>
        </p:nvSpPr>
        <p:spPr>
          <a:xfrm>
            <a:off x="6492240" y="1920240"/>
            <a:ext cx="137160" cy="137160"/>
          </a:xfrm>
          <a:prstGeom prst="ellipse">
            <a:avLst/>
          </a:prstGeom>
          <a:solidFill>
            <a:srgbClr val="1B2540"/>
          </a:solidFill>
          <a:ln w="12700">
            <a:solidFill>
              <a:srgbClr val="1B2540"/>
            </a:solidFill>
            <a:prstDash val="solid"/>
          </a:ln>
        </p:spPr>
        <p:txBody>
          <a:bodyPr/>
          <a:lstStyle/>
          <a:p>
            <a:endParaRPr lang="en-IN"/>
          </a:p>
        </p:txBody>
      </p:sp>
      <p:sp>
        <p:nvSpPr>
          <p:cNvPr id="43" name="Shape 40"/>
          <p:cNvSpPr/>
          <p:nvPr/>
        </p:nvSpPr>
        <p:spPr>
          <a:xfrm>
            <a:off x="6675120" y="3017520"/>
            <a:ext cx="137160" cy="137160"/>
          </a:xfrm>
          <a:prstGeom prst="ellipse">
            <a:avLst/>
          </a:prstGeom>
          <a:solidFill>
            <a:srgbClr val="1B2540"/>
          </a:solidFill>
          <a:ln w="12700">
            <a:solidFill>
              <a:srgbClr val="1B2540"/>
            </a:solidFill>
            <a:prstDash val="solid"/>
          </a:ln>
        </p:spPr>
        <p:txBody>
          <a:bodyPr/>
          <a:lstStyle/>
          <a:p>
            <a:endParaRPr lang="en-IN"/>
          </a:p>
        </p:txBody>
      </p:sp>
      <p:sp>
        <p:nvSpPr>
          <p:cNvPr id="44" name="Shape 41"/>
          <p:cNvSpPr/>
          <p:nvPr/>
        </p:nvSpPr>
        <p:spPr>
          <a:xfrm>
            <a:off x="6035040" y="2926080"/>
            <a:ext cx="137160" cy="137160"/>
          </a:xfrm>
          <a:prstGeom prst="ellipse">
            <a:avLst/>
          </a:prstGeom>
          <a:solidFill>
            <a:srgbClr val="1B2540"/>
          </a:solidFill>
          <a:ln w="12700">
            <a:solidFill>
              <a:srgbClr val="1B2540"/>
            </a:solidFill>
            <a:prstDash val="solid"/>
          </a:ln>
        </p:spPr>
        <p:txBody>
          <a:bodyPr/>
          <a:lstStyle/>
          <a:p>
            <a:endParaRPr lang="en-IN"/>
          </a:p>
        </p:txBody>
      </p:sp>
      <p:sp>
        <p:nvSpPr>
          <p:cNvPr id="45" name="Shape 42"/>
          <p:cNvSpPr/>
          <p:nvPr/>
        </p:nvSpPr>
        <p:spPr>
          <a:xfrm>
            <a:off x="6446520" y="2286000"/>
            <a:ext cx="274320" cy="274320"/>
          </a:xfrm>
          <a:prstGeom prst="star5">
            <a:avLst/>
          </a:prstGeom>
          <a:solidFill>
            <a:srgbClr val="F2B705"/>
          </a:solidFill>
          <a:ln w="12700">
            <a:solidFill>
              <a:srgbClr val="1B2540"/>
            </a:solidFill>
            <a:prstDash val="solid"/>
          </a:ln>
        </p:spPr>
        <p:txBody>
          <a:bodyPr/>
          <a:lstStyle/>
          <a:p>
            <a:endParaRPr lang="en-IN"/>
          </a:p>
        </p:txBody>
      </p:sp>
      <p:sp>
        <p:nvSpPr>
          <p:cNvPr id="46" name="Text 43"/>
          <p:cNvSpPr txBox="1"/>
          <p:nvPr/>
        </p:nvSpPr>
        <p:spPr>
          <a:xfrm>
            <a:off x="4800600" y="3200400"/>
            <a:ext cx="3749040" cy="731520"/>
          </a:xfrm>
          <a:prstGeom prst="rect">
            <a:avLst/>
          </a:prstGeom>
          <a:noFill/>
          <a:ln/>
        </p:spPr>
        <p:txBody>
          <a:bodyPr wrap="square" lIns="0" tIns="0" rIns="0" bIns="0" rtlCol="0" anchor="t"/>
          <a:lstStyle/>
          <a:p>
            <a:pPr marL="0" indent="0">
              <a:buNone/>
            </a:pPr>
            <a:r>
              <a:rPr lang="en-US" sz="1100" dirty="0">
                <a:solidFill>
                  <a:srgbClr val="1B2540"/>
                </a:solidFill>
                <a:latin typeface="Calibri" pitchFamily="34" charset="0"/>
                <a:ea typeface="Calibri" pitchFamily="34" charset="-122"/>
                <a:cs typeface="Calibri" pitchFamily="34" charset="-120"/>
              </a:rPr>
              <a:t>A new sample (★) takes the class of the majority of its k closest training samples. Best accuracy at k = 9.</a:t>
            </a:r>
            <a:endParaRPr lang="en-US" sz="1100" dirty="0"/>
          </a:p>
        </p:txBody>
      </p:sp>
      <p:sp>
        <p:nvSpPr>
          <p:cNvPr id="47" name="Shape 44"/>
          <p:cNvSpPr/>
          <p:nvPr/>
        </p:nvSpPr>
        <p:spPr>
          <a:xfrm>
            <a:off x="457200" y="4251960"/>
            <a:ext cx="8229600" cy="457200"/>
          </a:xfrm>
          <a:prstGeom prst="rect">
            <a:avLst/>
          </a:prstGeom>
          <a:solidFill>
            <a:srgbClr val="FFFFFF"/>
          </a:solidFill>
          <a:ln w="12700">
            <a:solidFill>
              <a:srgbClr val="FFFFFF"/>
            </a:solidFill>
            <a:prstDash val="solid"/>
          </a:ln>
        </p:spPr>
        <p:txBody>
          <a:bodyPr/>
          <a:lstStyle/>
          <a:p>
            <a:endParaRPr lang="en-IN"/>
          </a:p>
        </p:txBody>
      </p:sp>
      <p:sp>
        <p:nvSpPr>
          <p:cNvPr id="48" name="Text 45"/>
          <p:cNvSpPr txBox="1"/>
          <p:nvPr/>
        </p:nvSpPr>
        <p:spPr>
          <a:xfrm>
            <a:off x="457200" y="4251960"/>
            <a:ext cx="8229600" cy="457200"/>
          </a:xfrm>
          <a:prstGeom prst="rect">
            <a:avLst/>
          </a:prstGeom>
          <a:noFill/>
          <a:ln/>
        </p:spPr>
        <p:txBody>
          <a:bodyPr wrap="square" lIns="0" tIns="0" rIns="0" bIns="0" rtlCol="0" anchor="ctr"/>
          <a:lstStyle/>
          <a:p>
            <a:pPr marL="0" indent="0" algn="ctr">
              <a:buNone/>
            </a:pPr>
            <a:r>
              <a:rPr lang="en-US" sz="1150" b="1" dirty="0">
                <a:solidFill>
                  <a:srgbClr val="E85D4F"/>
                </a:solidFill>
                <a:latin typeface="Calibri" pitchFamily="34" charset="0"/>
                <a:ea typeface="Calibri" pitchFamily="34" charset="-122"/>
                <a:cs typeface="Calibri" pitchFamily="34" charset="-120"/>
              </a:rPr>
              <a:t>Lock gesture: </a:t>
            </a:r>
            <a:r>
              <a:rPr lang="en-US" sz="1150" dirty="0">
                <a:solidFill>
                  <a:srgbClr val="1B2540"/>
                </a:solidFill>
                <a:latin typeface="Calibri" pitchFamily="34" charset="0"/>
                <a:ea typeface="Calibri" pitchFamily="34" charset="-122"/>
                <a:cs typeface="Calibri" pitchFamily="34" charset="-120"/>
              </a:rPr>
              <a:t>a double wrist flexion locks / unlocks the system, preventing false triggers.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g-08.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8515350" y="4881562"/>
            <a:ext cx="352425" cy="152400"/>
          </a:xfrm>
          <a:prstGeom prst="rect">
            <a:avLst/>
          </a:prstGeom>
          <a:solidFill>
            <a:srgbClr val="FE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191500" y="4911090"/>
            <a:ext cx="602932" cy="95250"/>
          </a:xfrm>
          <a:prstGeom prst="rect">
            <a:avLst/>
          </a:prstGeom>
          <a:noFill/>
        </p:spPr>
        <p:txBody>
          <a:bodyPr wrap="square" lIns="0" tIns="0" rIns="0" bIns="0" anchor="ctr">
            <a:spAutoFit/>
          </a:bodyPr>
          <a:lstStyle/>
          <a:p>
            <a:pPr algn="r"/>
            <a:r>
              <a:rPr sz="675" b="0" i="0">
                <a:solidFill>
                  <a:srgbClr val="1B2540"/>
                </a:solidFill>
                <a:latin typeface="Times New Roman"/>
              </a:rPr>
              <a:t>10 / 16</a:t>
            </a:r>
          </a:p>
        </p:txBody>
      </p:sp>
      <p:sp>
        <p:nvSpPr>
          <p:cNvPr id="5" name="Rectangle 4"/>
          <p:cNvSpPr/>
          <p:nvPr/>
        </p:nvSpPr>
        <p:spPr>
          <a:xfrm>
            <a:off x="1316135" y="185016"/>
            <a:ext cx="235235" cy="207841"/>
          </a:xfrm>
          <a:prstGeom prst="rect">
            <a:avLst/>
          </a:prstGeom>
          <a:solidFill>
            <a:srgbClr val="FE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30422" y="187873"/>
            <a:ext cx="571500" cy="179266"/>
          </a:xfrm>
          <a:prstGeom prst="rect">
            <a:avLst/>
          </a:prstGeom>
          <a:noFill/>
        </p:spPr>
        <p:txBody>
          <a:bodyPr wrap="square" lIns="0" tIns="0" rIns="0" bIns="0" anchor="ctr">
            <a:spAutoFit/>
          </a:bodyPr>
          <a:lstStyle/>
          <a:p>
            <a:pPr algn="l"/>
            <a:r>
              <a:rPr sz="1275" b="1" i="0" spc="203">
                <a:solidFill>
                  <a:srgbClr val="0F7B84"/>
                </a:solidFill>
                <a:latin typeface="Times New Roman"/>
              </a:rPr>
              <a:t>05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g-09.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8515350" y="4881562"/>
            <a:ext cx="352425" cy="152400"/>
          </a:xfrm>
          <a:prstGeom prst="rect">
            <a:avLst/>
          </a:prstGeom>
          <a:solidFill>
            <a:srgbClr val="FF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191500" y="4911090"/>
            <a:ext cx="602932" cy="95250"/>
          </a:xfrm>
          <a:prstGeom prst="rect">
            <a:avLst/>
          </a:prstGeom>
          <a:noFill/>
        </p:spPr>
        <p:txBody>
          <a:bodyPr wrap="square" lIns="0" tIns="0" rIns="0" bIns="0" anchor="ctr">
            <a:spAutoFit/>
          </a:bodyPr>
          <a:lstStyle/>
          <a:p>
            <a:pPr algn="r"/>
            <a:r>
              <a:rPr sz="675" b="0" i="0">
                <a:solidFill>
                  <a:srgbClr val="1B2540"/>
                </a:solidFill>
                <a:latin typeface="Times New Roman"/>
              </a:rPr>
              <a:t>11 / 16</a:t>
            </a:r>
          </a:p>
        </p:txBody>
      </p:sp>
      <p:sp>
        <p:nvSpPr>
          <p:cNvPr id="5" name="Rectangle 4"/>
          <p:cNvSpPr/>
          <p:nvPr/>
        </p:nvSpPr>
        <p:spPr>
          <a:xfrm>
            <a:off x="1371924" y="165721"/>
            <a:ext cx="235235" cy="207841"/>
          </a:xfrm>
          <a:prstGeom prst="rect">
            <a:avLst/>
          </a:prstGeom>
          <a:solidFill>
            <a:srgbClr val="FFE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86211" y="168578"/>
            <a:ext cx="571500" cy="179266"/>
          </a:xfrm>
          <a:prstGeom prst="rect">
            <a:avLst/>
          </a:prstGeom>
          <a:noFill/>
        </p:spPr>
        <p:txBody>
          <a:bodyPr wrap="square" lIns="0" tIns="0" rIns="0" bIns="0" anchor="ctr">
            <a:spAutoFit/>
          </a:bodyPr>
          <a:lstStyle/>
          <a:p>
            <a:pPr algn="l"/>
            <a:r>
              <a:rPr sz="1275" b="1" i="0" spc="203">
                <a:solidFill>
                  <a:srgbClr val="0F7B84"/>
                </a:solidFill>
                <a:latin typeface="Times New Roman"/>
              </a:rPr>
              <a:t>06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g-10.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8515350" y="4881562"/>
            <a:ext cx="352425" cy="152400"/>
          </a:xfrm>
          <a:prstGeom prst="rect">
            <a:avLst/>
          </a:prstGeom>
          <a:solidFill>
            <a:srgbClr val="FF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191500" y="4911090"/>
            <a:ext cx="602932" cy="95250"/>
          </a:xfrm>
          <a:prstGeom prst="rect">
            <a:avLst/>
          </a:prstGeom>
          <a:noFill/>
        </p:spPr>
        <p:txBody>
          <a:bodyPr wrap="square" lIns="0" tIns="0" rIns="0" bIns="0" anchor="ctr">
            <a:spAutoFit/>
          </a:bodyPr>
          <a:lstStyle/>
          <a:p>
            <a:pPr algn="r"/>
            <a:r>
              <a:rPr sz="675" b="0" i="0">
                <a:solidFill>
                  <a:srgbClr val="1B2540"/>
                </a:solidFill>
                <a:latin typeface="Times New Roman"/>
              </a:rPr>
              <a:t>12 / 16</a:t>
            </a:r>
          </a:p>
        </p:txBody>
      </p:sp>
      <p:sp>
        <p:nvSpPr>
          <p:cNvPr id="5" name="Rectangle 4"/>
          <p:cNvSpPr/>
          <p:nvPr/>
        </p:nvSpPr>
        <p:spPr>
          <a:xfrm>
            <a:off x="1371924" y="165721"/>
            <a:ext cx="235235" cy="207841"/>
          </a:xfrm>
          <a:prstGeom prst="rect">
            <a:avLst/>
          </a:prstGeom>
          <a:solidFill>
            <a:srgbClr val="FFE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86211" y="168578"/>
            <a:ext cx="571500" cy="179266"/>
          </a:xfrm>
          <a:prstGeom prst="rect">
            <a:avLst/>
          </a:prstGeom>
          <a:noFill/>
        </p:spPr>
        <p:txBody>
          <a:bodyPr wrap="square" lIns="0" tIns="0" rIns="0" bIns="0" anchor="ctr">
            <a:spAutoFit/>
          </a:bodyPr>
          <a:lstStyle/>
          <a:p>
            <a:pPr algn="l"/>
            <a:r>
              <a:rPr sz="1275" b="1" i="0" spc="203">
                <a:solidFill>
                  <a:srgbClr val="0F7B84"/>
                </a:solidFill>
                <a:latin typeface="Times New Roman"/>
              </a:rPr>
              <a:t>07</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g-11.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8515350" y="4881562"/>
            <a:ext cx="352425" cy="152400"/>
          </a:xfrm>
          <a:prstGeom prst="rect">
            <a:avLst/>
          </a:prstGeom>
          <a:solidFill>
            <a:srgbClr val="FE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191500" y="4911090"/>
            <a:ext cx="602932" cy="95250"/>
          </a:xfrm>
          <a:prstGeom prst="rect">
            <a:avLst/>
          </a:prstGeom>
          <a:noFill/>
        </p:spPr>
        <p:txBody>
          <a:bodyPr wrap="square" lIns="0" tIns="0" rIns="0" bIns="0" anchor="ctr">
            <a:spAutoFit/>
          </a:bodyPr>
          <a:lstStyle/>
          <a:p>
            <a:pPr algn="r"/>
            <a:r>
              <a:rPr sz="675" b="0" i="0">
                <a:solidFill>
                  <a:srgbClr val="1B2540"/>
                </a:solidFill>
                <a:latin typeface="Times New Roman"/>
              </a:rPr>
              <a:t>13 / 16</a:t>
            </a:r>
          </a:p>
        </p:txBody>
      </p:sp>
      <p:sp>
        <p:nvSpPr>
          <p:cNvPr id="5" name="Rectangle 4"/>
          <p:cNvSpPr/>
          <p:nvPr/>
        </p:nvSpPr>
        <p:spPr>
          <a:xfrm>
            <a:off x="1365489" y="200540"/>
            <a:ext cx="235235" cy="207841"/>
          </a:xfrm>
          <a:prstGeom prst="rect">
            <a:avLst/>
          </a:prstGeom>
          <a:solidFill>
            <a:srgbClr val="FE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79777" y="203397"/>
            <a:ext cx="571500" cy="179266"/>
          </a:xfrm>
          <a:prstGeom prst="rect">
            <a:avLst/>
          </a:prstGeom>
          <a:noFill/>
        </p:spPr>
        <p:txBody>
          <a:bodyPr wrap="square" lIns="0" tIns="0" rIns="0" bIns="0" anchor="ctr">
            <a:spAutoFit/>
          </a:bodyPr>
          <a:lstStyle/>
          <a:p>
            <a:pPr algn="l"/>
            <a:r>
              <a:rPr sz="1275" b="1" i="0" spc="203">
                <a:solidFill>
                  <a:srgbClr val="0F7B84"/>
                </a:solidFill>
                <a:latin typeface="Times New Roman"/>
              </a:rPr>
              <a:t>08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g-06.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8515350" y="4881562"/>
            <a:ext cx="352425" cy="152400"/>
          </a:xfrm>
          <a:prstGeom prst="rect">
            <a:avLst/>
          </a:prstGeom>
          <a:solidFill>
            <a:srgbClr val="FE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191500" y="4911090"/>
            <a:ext cx="602932" cy="95250"/>
          </a:xfrm>
          <a:prstGeom prst="rect">
            <a:avLst/>
          </a:prstGeom>
          <a:noFill/>
        </p:spPr>
        <p:txBody>
          <a:bodyPr wrap="square" lIns="0" tIns="0" rIns="0" bIns="0" anchor="ctr">
            <a:spAutoFit/>
          </a:bodyPr>
          <a:lstStyle/>
          <a:p>
            <a:pPr algn="r"/>
            <a:r>
              <a:rPr sz="675" b="0" i="0">
                <a:solidFill>
                  <a:srgbClr val="1B2540"/>
                </a:solidFill>
                <a:latin typeface="Times New Roman"/>
              </a:rPr>
              <a:t>14 / 16</a:t>
            </a:r>
          </a:p>
        </p:txBody>
      </p:sp>
      <p:sp>
        <p:nvSpPr>
          <p:cNvPr id="5" name="Rectangle 4"/>
          <p:cNvSpPr/>
          <p:nvPr/>
        </p:nvSpPr>
        <p:spPr>
          <a:xfrm>
            <a:off x="1303344" y="197241"/>
            <a:ext cx="235235" cy="207841"/>
          </a:xfrm>
          <a:prstGeom prst="rect">
            <a:avLst/>
          </a:prstGeom>
          <a:solidFill>
            <a:srgbClr val="FE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17631" y="200099"/>
            <a:ext cx="571500" cy="179266"/>
          </a:xfrm>
          <a:prstGeom prst="rect">
            <a:avLst/>
          </a:prstGeom>
          <a:noFill/>
        </p:spPr>
        <p:txBody>
          <a:bodyPr wrap="square" lIns="0" tIns="0" rIns="0" bIns="0" anchor="ctr">
            <a:spAutoFit/>
          </a:bodyPr>
          <a:lstStyle/>
          <a:p>
            <a:pPr algn="l"/>
            <a:r>
              <a:rPr sz="1275" b="1" i="0" spc="203">
                <a:solidFill>
                  <a:srgbClr val="0F7B84"/>
                </a:solidFill>
                <a:latin typeface="Times New Roman"/>
              </a:rPr>
              <a:t>09</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g-12.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8515350" y="4881562"/>
            <a:ext cx="352425" cy="152400"/>
          </a:xfrm>
          <a:prstGeom prst="rect">
            <a:avLst/>
          </a:prstGeom>
          <a:solidFill>
            <a:srgbClr val="FE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191500" y="4911090"/>
            <a:ext cx="602932" cy="95250"/>
          </a:xfrm>
          <a:prstGeom prst="rect">
            <a:avLst/>
          </a:prstGeom>
          <a:noFill/>
        </p:spPr>
        <p:txBody>
          <a:bodyPr wrap="square" lIns="0" tIns="0" rIns="0" bIns="0" anchor="ctr">
            <a:spAutoFit/>
          </a:bodyPr>
          <a:lstStyle/>
          <a:p>
            <a:pPr algn="r"/>
            <a:r>
              <a:rPr sz="675" b="0" i="0">
                <a:solidFill>
                  <a:srgbClr val="1B2540"/>
                </a:solidFill>
                <a:latin typeface="Times New Roman"/>
              </a:rPr>
              <a:t>15 / 16</a:t>
            </a:r>
          </a:p>
        </p:txBody>
      </p:sp>
      <p:sp>
        <p:nvSpPr>
          <p:cNvPr id="5" name="Rectangle 4"/>
          <p:cNvSpPr/>
          <p:nvPr/>
        </p:nvSpPr>
        <p:spPr>
          <a:xfrm>
            <a:off x="1303344" y="262109"/>
            <a:ext cx="235235" cy="207841"/>
          </a:xfrm>
          <a:prstGeom prst="rect">
            <a:avLst/>
          </a:prstGeom>
          <a:solidFill>
            <a:srgbClr val="FE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17631" y="264967"/>
            <a:ext cx="571500" cy="179266"/>
          </a:xfrm>
          <a:prstGeom prst="rect">
            <a:avLst/>
          </a:prstGeom>
          <a:noFill/>
        </p:spPr>
        <p:txBody>
          <a:bodyPr wrap="square" lIns="0" tIns="0" rIns="0" bIns="0" anchor="ctr">
            <a:spAutoFit/>
          </a:bodyPr>
          <a:lstStyle/>
          <a:p>
            <a:pPr algn="l"/>
            <a:r>
              <a:rPr sz="1275" b="1" i="0" spc="203">
                <a:solidFill>
                  <a:srgbClr val="0F7B84"/>
                </a:solidFill>
                <a:latin typeface="Times New Roman"/>
              </a:rPr>
              <a:t>10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g-13.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p:bg>
      <p:bgPr>
        <a:solidFill>
          <a:srgbClr val="FFEBE8"/>
        </a:solidFill>
        <a:effectLst/>
      </p:bgPr>
    </p:bg>
    <p:spTree>
      <p:nvGrpSpPr>
        <p:cNvPr id="1" name=""/>
        <p:cNvGrpSpPr/>
        <p:nvPr/>
      </p:nvGrpSpPr>
      <p:grpSpPr>
        <a:xfrm>
          <a:off x="0" y="0"/>
          <a:ext cx="0" cy="0"/>
          <a:chOff x="0" y="0"/>
          <a:chExt cx="0" cy="0"/>
        </a:xfrm>
      </p:grpSpPr>
      <p:sp>
        <p:nvSpPr>
          <p:cNvPr id="2" name="Text 2"/>
          <p:cNvSpPr txBox="1"/>
          <p:nvPr/>
        </p:nvSpPr>
        <p:spPr>
          <a:xfrm>
            <a:off x="457200" y="182880"/>
            <a:ext cx="5486400" cy="228600"/>
          </a:xfrm>
          <a:prstGeom prst="rect">
            <a:avLst/>
          </a:prstGeom>
          <a:noFill/>
          <a:ln/>
        </p:spPr>
        <p:txBody>
          <a:bodyPr wrap="square" lIns="0" tIns="0" rIns="0" bIns="0" rtlCol="0" anchor="ctr"/>
          <a:lstStyle/>
          <a:p>
            <a:pPr marL="0" indent="0" algn="l">
              <a:buNone/>
            </a:pPr>
            <a:r>
              <a:rPr lang="en-US" sz="1100" b="1" i="0" dirty="0" spc="400">
                <a:solidFill>
                  <a:srgbClr val="0F7B84"/>
                </a:solidFill>
                <a:latin typeface="Calibri" pitchFamily="34" charset="0"/>
                <a:ea typeface="Calibri" pitchFamily="34" charset="-122"/>
                <a:cs typeface="Calibri" pitchFamily="34" charset="-120"/>
              </a:rPr>
              <a:t>SECTION 3a</a:t>
            </a:r>
            <a:endParaRPr lang="en-US" sz="1100" dirty="0"/>
          </a:p>
        </p:txBody>
      </p:sp>
      <p:sp>
        <p:nvSpPr>
          <p:cNvPr id="3" name="Text 3"/>
          <p:cNvSpPr txBox="1"/>
          <p:nvPr/>
        </p:nvSpPr>
        <p:spPr>
          <a:xfrm>
            <a:off x="457200" y="411480"/>
            <a:ext cx="8229600" cy="548640"/>
          </a:xfrm>
          <a:prstGeom prst="rect">
            <a:avLst/>
          </a:prstGeom>
          <a:noFill/>
          <a:ln/>
        </p:spPr>
        <p:txBody>
          <a:bodyPr wrap="square" lIns="0" tIns="0" rIns="0" bIns="0" rtlCol="0" anchor="ctr"/>
          <a:lstStyle/>
          <a:p>
            <a:pPr marL="0" indent="0" algn="l">
              <a:buNone/>
            </a:pPr>
            <a:r>
              <a:rPr lang="en-US" sz="2400" b="1" i="0" dirty="0">
                <a:solidFill>
                  <a:srgbClr val="0F7B84"/>
                </a:solidFill>
                <a:latin typeface="Georgia" pitchFamily="34" charset="0"/>
                <a:ea typeface="Georgia" pitchFamily="34" charset="-122"/>
                <a:cs typeface="Georgia" pitchFamily="34" charset="-120"/>
              </a:rPr>
              <a:t>Camera Grasp Selection: Results</a:t>
            </a:r>
            <a:endParaRPr lang="en-US" sz="2400" dirty="0"/>
          </a:p>
        </p:txBody>
      </p:sp>
      <p:sp>
        <p:nvSpPr>
          <p:cNvPr id="4" name="Text 4"/>
          <p:cNvSpPr txBox="1"/>
          <p:nvPr/>
        </p:nvSpPr>
        <p:spPr>
          <a:xfrm>
            <a:off x="457200" y="4846320"/>
            <a:ext cx="3657600" cy="201168"/>
          </a:xfrm>
          <a:prstGeom prst="rect">
            <a:avLst/>
          </a:prstGeom>
          <a:noFill/>
          <a:ln/>
        </p:spPr>
        <p:txBody>
          <a:bodyPr wrap="square" lIns="0" tIns="0" rIns="0" bIns="0" rtlCol="0" anchor="ctr"/>
          <a:lstStyle/>
          <a:p>
            <a:pPr marL="0" indent="0" algn="l">
              <a:buNone/>
            </a:pPr>
            <a:r>
              <a:rPr lang="en-US" sz="800" b="0" i="0" dirty="0">
                <a:solidFill>
                  <a:srgbClr val="1B2540"/>
                </a:solidFill>
                <a:latin typeface="Calibri" pitchFamily="34" charset="0"/>
                <a:ea typeface="Calibri" pitchFamily="34" charset="-122"/>
                <a:cs typeface="Calibri" pitchFamily="34" charset="-120"/>
              </a:rPr>
              <a:t>THOUGHT-CONTROLLED BIONIC HAND</a:t>
            </a:r>
            <a:endParaRPr lang="en-US" sz="800" dirty="0"/>
          </a:p>
        </p:txBody>
      </p:sp>
      <p:sp>
        <p:nvSpPr>
          <p:cNvPr id="5" name="Text 5"/>
          <p:cNvSpPr txBox="1"/>
          <p:nvPr/>
        </p:nvSpPr>
        <p:spPr>
          <a:xfrm>
            <a:off x="7772400" y="4846320"/>
            <a:ext cx="914400" cy="201168"/>
          </a:xfrm>
          <a:prstGeom prst="rect">
            <a:avLst/>
          </a:prstGeom>
          <a:noFill/>
          <a:ln/>
        </p:spPr>
        <p:txBody>
          <a:bodyPr wrap="square" lIns="0" tIns="0" rIns="0" bIns="0" rtlCol="0" anchor="ctr"/>
          <a:lstStyle/>
          <a:p>
            <a:pPr marL="0" indent="0" algn="r">
              <a:buNone/>
            </a:pPr>
            <a:r>
              <a:rPr lang="en-US" sz="800" b="0" i="0" dirty="0">
                <a:solidFill>
                  <a:srgbClr val="1B2540"/>
                </a:solidFill>
                <a:latin typeface="Calibri" pitchFamily="34" charset="0"/>
                <a:ea typeface="Calibri" pitchFamily="34" charset="-122"/>
                <a:cs typeface="Calibri" pitchFamily="34" charset="-120"/>
              </a:rPr>
              <a:t>06 / 16</a:t>
            </a:r>
            <a:endParaRPr lang="en-US" sz="800" dirty="0"/>
          </a:p>
        </p:txBody>
      </p:sp>
      <p:sp>
        <p:nvSpPr>
          <p:cNvPr id="6" name="Text 6"/>
          <p:cNvSpPr txBox="1"/>
          <p:nvPr/>
        </p:nvSpPr>
        <p:spPr>
          <a:xfrm>
            <a:off x="3931920" y="4846320"/>
            <a:ext cx="3749040" cy="201168"/>
          </a:xfrm>
          <a:prstGeom prst="rect">
            <a:avLst/>
          </a:prstGeom>
          <a:noFill/>
          <a:ln/>
        </p:spPr>
        <p:txBody>
          <a:bodyPr wrap="square" lIns="0" tIns="0" rIns="0" bIns="0" rtlCol="0" anchor="ctr"/>
          <a:lstStyle/>
          <a:p>
            <a:pPr marL="0" indent="0" algn="r">
              <a:buNone/>
            </a:pPr>
            <a:r>
              <a:rPr lang="en-US" sz="750" b="0" i="1" dirty="0">
                <a:solidFill>
                  <a:srgbClr val="1B2540"/>
                </a:solidFill>
                <a:latin typeface="Calibri" pitchFamily="34" charset="0"/>
                <a:ea typeface="Calibri" pitchFamily="34" charset="-122"/>
                <a:cs typeface="Calibri" pitchFamily="34" charset="-120"/>
              </a:rPr>
              <a:t>Source: DeGol et al., 2016</a:t>
            </a:r>
            <a:endParaRPr lang="en-US" sz="750" dirty="0"/>
          </a:p>
        </p:txBody>
      </p:sp>
      <p:sp>
        <p:nvSpPr>
          <p:cNvPr id="7" name="Shape 7"/>
          <p:cNvSpPr/>
          <p:nvPr/>
        </p:nvSpPr>
        <p:spPr>
          <a:xfrm>
            <a:off x="457200" y="1097280"/>
            <a:ext cx="3200400" cy="3017520"/>
          </a:xfrm>
          <a:prstGeom prst="rect">
            <a:avLst/>
          </a:prstGeom>
          <a:solidFill>
            <a:srgbClr val="FFDDD8"/>
          </a:solidFill>
          <a:ln w="12700">
            <a:solidFill>
              <a:srgbClr val="FFDDD8"/>
            </a:solidFill>
            <a:prstDash val="solid"/>
          </a:ln>
        </p:spPr>
        <p:txBody>
          <a:bodyPr/>
          <a:lstStyle/>
          <a:p>
            <a:endParaRPr lang="en-IN"/>
          </a:p>
        </p:txBody>
      </p:sp>
      <p:sp>
        <p:nvSpPr>
          <p:cNvPr id="8" name="Text 8"/>
          <p:cNvSpPr txBox="1"/>
          <p:nvPr/>
        </p:nvSpPr>
        <p:spPr>
          <a:xfrm>
            <a:off x="594360" y="1188720"/>
            <a:ext cx="2926080" cy="274320"/>
          </a:xfrm>
          <a:prstGeom prst="rect">
            <a:avLst/>
          </a:prstGeom>
          <a:noFill/>
          <a:ln/>
        </p:spPr>
        <p:txBody>
          <a:bodyPr wrap="square" lIns="0" tIns="0" rIns="0" bIns="0" rtlCol="0" anchor="t"/>
          <a:lstStyle/>
          <a:p>
            <a:pPr marL="0" indent="0" algn="l">
              <a:buNone/>
            </a:pPr>
            <a:r>
              <a:rPr lang="en-US" sz="1400" b="1" i="0" dirty="0">
                <a:solidFill>
                  <a:srgbClr val="0F7B84"/>
                </a:solidFill>
                <a:latin typeface="Georgia" pitchFamily="34" charset="0"/>
                <a:ea typeface="Georgia" pitchFamily="34" charset="-122"/>
                <a:cs typeface="Georgia" pitchFamily="34" charset="-120"/>
              </a:rPr>
              <a:t>Grasp accuracy</a:t>
            </a:r>
            <a:endParaRPr lang="en-US" sz="1400" dirty="0"/>
          </a:p>
        </p:txBody>
      </p:sp>
      <p:sp>
        <p:nvSpPr>
          <p:cNvPr id="9" name="Text 9"/>
          <p:cNvSpPr txBox="1"/>
          <p:nvPr/>
        </p:nvSpPr>
        <p:spPr>
          <a:xfrm>
            <a:off x="594360" y="1463040"/>
            <a:ext cx="2926080" cy="594360"/>
          </a:xfrm>
          <a:prstGeom prst="rect">
            <a:avLst/>
          </a:prstGeom>
          <a:noFill/>
          <a:ln/>
        </p:spPr>
        <p:txBody>
          <a:bodyPr wrap="square" lIns="0" tIns="0" rIns="0" bIns="0" rtlCol="0" anchor="ctr"/>
          <a:lstStyle/>
          <a:p>
            <a:pPr marL="0" indent="0" algn="l">
              <a:buNone/>
            </a:pPr>
            <a:r>
              <a:rPr lang="en-US" sz="4000" b="1" i="0" dirty="0">
                <a:solidFill>
                  <a:srgbClr val="E85D4F"/>
                </a:solidFill>
                <a:latin typeface="Georgia" pitchFamily="34" charset="0"/>
                <a:ea typeface="Georgia" pitchFamily="34" charset="-122"/>
                <a:cs typeface="Georgia" pitchFamily="34" charset="-120"/>
              </a:rPr>
              <a:t>93.2%</a:t>
            </a:r>
            <a:endParaRPr lang="en-US" sz="4000" dirty="0"/>
          </a:p>
        </p:txBody>
      </p:sp>
      <p:sp>
        <p:nvSpPr>
          <p:cNvPr id="10" name="Text 10"/>
          <p:cNvSpPr txBox="1"/>
          <p:nvPr/>
        </p:nvSpPr>
        <p:spPr>
          <a:xfrm>
            <a:off x="594360" y="2075688"/>
            <a:ext cx="2926080" cy="365760"/>
          </a:xfrm>
          <a:prstGeom prst="rect">
            <a:avLst/>
          </a:prstGeom>
          <a:noFill/>
          <a:ln/>
        </p:spPr>
        <p:txBody>
          <a:bodyPr wrap="square" lIns="0" tIns="0" rIns="0" bIns="0" rtlCol="0" anchor="t"/>
          <a:lstStyle/>
          <a:p>
            <a:pPr marL="0" indent="0" algn="l">
              <a:buNone/>
            </a:pPr>
            <a:r>
              <a:rPr lang="en-US" sz="950" b="0" i="0" dirty="0">
                <a:solidFill>
                  <a:srgbClr val="1B2540"/>
                </a:solidFill>
                <a:latin typeface="Calibri" pitchFamily="34" charset="0"/>
                <a:ea typeface="Calibri" pitchFamily="34" charset="-122"/>
                <a:cs typeface="Calibri" pitchFamily="34" charset="-120"/>
              </a:rPr>
              <a:t>mean accuracy on 250 hand-camera images (50 objects, 5 views each), unseen in training</a:t>
            </a:r>
            <a:endParaRPr lang="en-US" sz="950" dirty="0"/>
          </a:p>
        </p:txBody>
      </p:sp>
      <p:sp>
        <p:nvSpPr>
          <p:cNvPr id="11" name="Text 11"/>
          <p:cNvSpPr txBox="1"/>
          <p:nvPr/>
        </p:nvSpPr>
        <p:spPr>
          <a:xfrm>
            <a:off x="594360" y="2569464"/>
            <a:ext cx="1005840" cy="164592"/>
          </a:xfrm>
          <a:prstGeom prst="rect">
            <a:avLst/>
          </a:prstGeom>
          <a:noFill/>
          <a:ln/>
        </p:spPr>
        <p:txBody>
          <a:bodyPr wrap="square" lIns="0" tIns="0" rIns="0" bIns="0" rtlCol="0" anchor="ctr"/>
          <a:lstStyle/>
          <a:p>
            <a:pPr marL="0" indent="0" algn="l">
              <a:buNone/>
            </a:pPr>
            <a:r>
              <a:rPr lang="en-US" sz="1000" b="0" i="0" dirty="0">
                <a:solidFill>
                  <a:srgbClr val="1B2540"/>
                </a:solidFill>
                <a:latin typeface="Calibri" pitchFamily="34" charset="0"/>
                <a:ea typeface="Calibri" pitchFamily="34" charset="-122"/>
                <a:cs typeface="Calibri" pitchFamily="34" charset="-120"/>
              </a:rPr>
              <a:t>Pinch</a:t>
            </a:r>
            <a:endParaRPr lang="en-US" sz="1000" dirty="0"/>
          </a:p>
        </p:txBody>
      </p:sp>
      <p:sp>
        <p:nvSpPr>
          <p:cNvPr id="12" name="Shape 12"/>
          <p:cNvSpPr/>
          <p:nvPr/>
        </p:nvSpPr>
        <p:spPr>
          <a:xfrm>
            <a:off x="1645920" y="2569464"/>
            <a:ext cx="1371600" cy="164592"/>
          </a:xfrm>
          <a:prstGeom prst="rect">
            <a:avLst/>
          </a:prstGeom>
          <a:solidFill>
            <a:srgbClr val="FFFFFF"/>
          </a:solidFill>
          <a:ln w="12700">
            <a:solidFill>
              <a:srgbClr val="FFFFFF"/>
            </a:solidFill>
            <a:prstDash val="solid"/>
          </a:ln>
        </p:spPr>
        <p:txBody>
          <a:bodyPr/>
          <a:lstStyle/>
          <a:p>
            <a:endParaRPr lang="en-IN"/>
          </a:p>
        </p:txBody>
      </p:sp>
      <p:sp>
        <p:nvSpPr>
          <p:cNvPr id="13" name="Shape 13"/>
          <p:cNvSpPr/>
          <p:nvPr/>
        </p:nvSpPr>
        <p:spPr>
          <a:xfrm>
            <a:off x="1645920" y="2569464"/>
            <a:ext cx="1344168" cy="164592"/>
          </a:xfrm>
          <a:prstGeom prst="rect">
            <a:avLst/>
          </a:prstGeom>
          <a:solidFill>
            <a:srgbClr val="0F7B84"/>
          </a:solidFill>
          <a:ln w="12700">
            <a:solidFill>
              <a:srgbClr val="0F7B84"/>
            </a:solidFill>
            <a:prstDash val="solid"/>
          </a:ln>
        </p:spPr>
        <p:txBody>
          <a:bodyPr/>
          <a:lstStyle/>
          <a:p>
            <a:endParaRPr lang="en-IN"/>
          </a:p>
        </p:txBody>
      </p:sp>
      <p:sp>
        <p:nvSpPr>
          <p:cNvPr id="14" name="Text 14"/>
          <p:cNvSpPr txBox="1"/>
          <p:nvPr/>
        </p:nvSpPr>
        <p:spPr>
          <a:xfrm>
            <a:off x="3072384" y="2569464"/>
            <a:ext cx="320040" cy="164592"/>
          </a:xfrm>
          <a:prstGeom prst="rect">
            <a:avLst/>
          </a:prstGeom>
          <a:noFill/>
          <a:ln/>
        </p:spPr>
        <p:txBody>
          <a:bodyPr wrap="square" lIns="0" tIns="0" rIns="0" bIns="0" rtlCol="0" anchor="ctr"/>
          <a:lstStyle/>
          <a:p>
            <a:pPr marL="0" indent="0" algn="l">
              <a:buNone/>
            </a:pPr>
            <a:r>
              <a:rPr lang="en-US" sz="1000" b="1" i="0" dirty="0">
                <a:solidFill>
                  <a:srgbClr val="1B2540"/>
                </a:solidFill>
                <a:latin typeface="Calibri" pitchFamily="34" charset="0"/>
                <a:ea typeface="Calibri" pitchFamily="34" charset="-122"/>
                <a:cs typeface="Calibri" pitchFamily="34" charset="-120"/>
              </a:rPr>
              <a:t>98%</a:t>
            </a:r>
            <a:endParaRPr lang="en-US" sz="1000" dirty="0"/>
          </a:p>
        </p:txBody>
      </p:sp>
      <p:sp>
        <p:nvSpPr>
          <p:cNvPr id="15" name="Text 15"/>
          <p:cNvSpPr txBox="1"/>
          <p:nvPr/>
        </p:nvSpPr>
        <p:spPr>
          <a:xfrm>
            <a:off x="594360" y="2852928"/>
            <a:ext cx="1005840" cy="164592"/>
          </a:xfrm>
          <a:prstGeom prst="rect">
            <a:avLst/>
          </a:prstGeom>
          <a:noFill/>
          <a:ln/>
        </p:spPr>
        <p:txBody>
          <a:bodyPr wrap="square" lIns="0" tIns="0" rIns="0" bIns="0" rtlCol="0" anchor="ctr"/>
          <a:lstStyle/>
          <a:p>
            <a:pPr marL="0" indent="0" algn="l">
              <a:buNone/>
            </a:pPr>
            <a:r>
              <a:rPr lang="en-US" sz="1000" b="0" i="0" dirty="0">
                <a:solidFill>
                  <a:srgbClr val="1B2540"/>
                </a:solidFill>
                <a:latin typeface="Calibri" pitchFamily="34" charset="0"/>
                <a:ea typeface="Calibri" pitchFamily="34" charset="-122"/>
                <a:cs typeface="Calibri" pitchFamily="34" charset="-120"/>
              </a:rPr>
              <a:t>3-jaw chuck</a:t>
            </a:r>
            <a:endParaRPr lang="en-US" sz="1000" dirty="0"/>
          </a:p>
        </p:txBody>
      </p:sp>
      <p:sp>
        <p:nvSpPr>
          <p:cNvPr id="16" name="Shape 16"/>
          <p:cNvSpPr/>
          <p:nvPr/>
        </p:nvSpPr>
        <p:spPr>
          <a:xfrm>
            <a:off x="1645920" y="2852928"/>
            <a:ext cx="1371600" cy="164592"/>
          </a:xfrm>
          <a:prstGeom prst="rect">
            <a:avLst/>
          </a:prstGeom>
          <a:solidFill>
            <a:srgbClr val="FFFFFF"/>
          </a:solidFill>
          <a:ln w="12700">
            <a:solidFill>
              <a:srgbClr val="FFFFFF"/>
            </a:solidFill>
            <a:prstDash val="solid"/>
          </a:ln>
        </p:spPr>
        <p:txBody>
          <a:bodyPr/>
          <a:lstStyle/>
          <a:p>
            <a:endParaRPr lang="en-IN"/>
          </a:p>
        </p:txBody>
      </p:sp>
      <p:sp>
        <p:nvSpPr>
          <p:cNvPr id="17" name="Shape 17"/>
          <p:cNvSpPr/>
          <p:nvPr/>
        </p:nvSpPr>
        <p:spPr>
          <a:xfrm>
            <a:off x="1645920" y="2852928"/>
            <a:ext cx="1316736" cy="164592"/>
          </a:xfrm>
          <a:prstGeom prst="rect">
            <a:avLst/>
          </a:prstGeom>
          <a:solidFill>
            <a:srgbClr val="0F7B84"/>
          </a:solidFill>
          <a:ln w="12700">
            <a:solidFill>
              <a:srgbClr val="0F7B84"/>
            </a:solidFill>
            <a:prstDash val="solid"/>
          </a:ln>
        </p:spPr>
        <p:txBody>
          <a:bodyPr/>
          <a:lstStyle/>
          <a:p>
            <a:endParaRPr lang="en-IN"/>
          </a:p>
        </p:txBody>
      </p:sp>
      <p:sp>
        <p:nvSpPr>
          <p:cNvPr id="18" name="Text 18"/>
          <p:cNvSpPr txBox="1"/>
          <p:nvPr/>
        </p:nvSpPr>
        <p:spPr>
          <a:xfrm>
            <a:off x="3072384" y="2852928"/>
            <a:ext cx="320040" cy="164592"/>
          </a:xfrm>
          <a:prstGeom prst="rect">
            <a:avLst/>
          </a:prstGeom>
          <a:noFill/>
          <a:ln/>
        </p:spPr>
        <p:txBody>
          <a:bodyPr wrap="square" lIns="0" tIns="0" rIns="0" bIns="0" rtlCol="0" anchor="ctr"/>
          <a:lstStyle/>
          <a:p>
            <a:pPr marL="0" indent="0" algn="l">
              <a:buNone/>
            </a:pPr>
            <a:r>
              <a:rPr lang="en-US" sz="1000" b="1" i="0" dirty="0">
                <a:solidFill>
                  <a:srgbClr val="1B2540"/>
                </a:solidFill>
                <a:latin typeface="Calibri" pitchFamily="34" charset="0"/>
                <a:ea typeface="Calibri" pitchFamily="34" charset="-122"/>
                <a:cs typeface="Calibri" pitchFamily="34" charset="-120"/>
              </a:rPr>
              <a:t>96%</a:t>
            </a:r>
            <a:endParaRPr lang="en-US" sz="1000" dirty="0"/>
          </a:p>
        </p:txBody>
      </p:sp>
      <p:sp>
        <p:nvSpPr>
          <p:cNvPr id="19" name="Text 19"/>
          <p:cNvSpPr txBox="1"/>
          <p:nvPr/>
        </p:nvSpPr>
        <p:spPr>
          <a:xfrm>
            <a:off x="594360" y="3136392"/>
            <a:ext cx="1005840" cy="164592"/>
          </a:xfrm>
          <a:prstGeom prst="rect">
            <a:avLst/>
          </a:prstGeom>
          <a:noFill/>
          <a:ln/>
        </p:spPr>
        <p:txBody>
          <a:bodyPr wrap="square" lIns="0" tIns="0" rIns="0" bIns="0" rtlCol="0" anchor="ctr"/>
          <a:lstStyle/>
          <a:p>
            <a:pPr marL="0" indent="0" algn="l">
              <a:buNone/>
            </a:pPr>
            <a:r>
              <a:rPr lang="en-US" sz="1000" b="0" i="0" dirty="0">
                <a:solidFill>
                  <a:srgbClr val="1B2540"/>
                </a:solidFill>
                <a:latin typeface="Calibri" pitchFamily="34" charset="0"/>
                <a:ea typeface="Calibri" pitchFamily="34" charset="-122"/>
                <a:cs typeface="Calibri" pitchFamily="34" charset="-120"/>
              </a:rPr>
              <a:t>Power</a:t>
            </a:r>
            <a:endParaRPr lang="en-US" sz="1000" dirty="0"/>
          </a:p>
        </p:txBody>
      </p:sp>
      <p:sp>
        <p:nvSpPr>
          <p:cNvPr id="20" name="Shape 20"/>
          <p:cNvSpPr/>
          <p:nvPr/>
        </p:nvSpPr>
        <p:spPr>
          <a:xfrm>
            <a:off x="1645920" y="3136392"/>
            <a:ext cx="1371600" cy="164592"/>
          </a:xfrm>
          <a:prstGeom prst="rect">
            <a:avLst/>
          </a:prstGeom>
          <a:solidFill>
            <a:srgbClr val="FFFFFF"/>
          </a:solidFill>
          <a:ln w="12700">
            <a:solidFill>
              <a:srgbClr val="FFFFFF"/>
            </a:solidFill>
            <a:prstDash val="solid"/>
          </a:ln>
        </p:spPr>
        <p:txBody>
          <a:bodyPr/>
          <a:lstStyle/>
          <a:p>
            <a:endParaRPr lang="en-IN"/>
          </a:p>
        </p:txBody>
      </p:sp>
      <p:sp>
        <p:nvSpPr>
          <p:cNvPr id="21" name="Shape 21"/>
          <p:cNvSpPr/>
          <p:nvPr/>
        </p:nvSpPr>
        <p:spPr>
          <a:xfrm>
            <a:off x="1645920" y="3136392"/>
            <a:ext cx="1289304" cy="164592"/>
          </a:xfrm>
          <a:prstGeom prst="rect">
            <a:avLst/>
          </a:prstGeom>
          <a:solidFill>
            <a:srgbClr val="0F7B84"/>
          </a:solidFill>
          <a:ln w="12700">
            <a:solidFill>
              <a:srgbClr val="0F7B84"/>
            </a:solidFill>
            <a:prstDash val="solid"/>
          </a:ln>
        </p:spPr>
        <p:txBody>
          <a:bodyPr/>
          <a:lstStyle/>
          <a:p>
            <a:endParaRPr lang="en-IN"/>
          </a:p>
        </p:txBody>
      </p:sp>
      <p:sp>
        <p:nvSpPr>
          <p:cNvPr id="22" name="Text 22"/>
          <p:cNvSpPr txBox="1"/>
          <p:nvPr/>
        </p:nvSpPr>
        <p:spPr>
          <a:xfrm>
            <a:off x="3072384" y="3136392"/>
            <a:ext cx="320040" cy="164592"/>
          </a:xfrm>
          <a:prstGeom prst="rect">
            <a:avLst/>
          </a:prstGeom>
          <a:noFill/>
          <a:ln/>
        </p:spPr>
        <p:txBody>
          <a:bodyPr wrap="square" lIns="0" tIns="0" rIns="0" bIns="0" rtlCol="0" anchor="ctr"/>
          <a:lstStyle/>
          <a:p>
            <a:pPr marL="0" indent="0" algn="l">
              <a:buNone/>
            </a:pPr>
            <a:r>
              <a:rPr lang="en-US" sz="1000" b="1" i="0" dirty="0">
                <a:solidFill>
                  <a:srgbClr val="1B2540"/>
                </a:solidFill>
                <a:latin typeface="Calibri" pitchFamily="34" charset="0"/>
                <a:ea typeface="Calibri" pitchFamily="34" charset="-122"/>
                <a:cs typeface="Calibri" pitchFamily="34" charset="-120"/>
              </a:rPr>
              <a:t>94%</a:t>
            </a:r>
            <a:endParaRPr lang="en-US" sz="1000" dirty="0"/>
          </a:p>
        </p:txBody>
      </p:sp>
      <p:sp>
        <p:nvSpPr>
          <p:cNvPr id="23" name="Text 23"/>
          <p:cNvSpPr txBox="1"/>
          <p:nvPr/>
        </p:nvSpPr>
        <p:spPr>
          <a:xfrm>
            <a:off x="594360" y="3419856"/>
            <a:ext cx="1005840" cy="164592"/>
          </a:xfrm>
          <a:prstGeom prst="rect">
            <a:avLst/>
          </a:prstGeom>
          <a:noFill/>
          <a:ln/>
        </p:spPr>
        <p:txBody>
          <a:bodyPr wrap="square" lIns="0" tIns="0" rIns="0" bIns="0" rtlCol="0" anchor="ctr"/>
          <a:lstStyle/>
          <a:p>
            <a:pPr marL="0" indent="0" algn="l">
              <a:buNone/>
            </a:pPr>
            <a:r>
              <a:rPr lang="en-US" sz="1000" b="0" i="0" dirty="0">
                <a:solidFill>
                  <a:srgbClr val="1B2540"/>
                </a:solidFill>
                <a:latin typeface="Calibri" pitchFamily="34" charset="0"/>
                <a:ea typeface="Calibri" pitchFamily="34" charset="-122"/>
                <a:cs typeface="Calibri" pitchFamily="34" charset="-120"/>
              </a:rPr>
              <a:t>Key</a:t>
            </a:r>
            <a:endParaRPr lang="en-US" sz="1000" dirty="0"/>
          </a:p>
        </p:txBody>
      </p:sp>
      <p:sp>
        <p:nvSpPr>
          <p:cNvPr id="24" name="Shape 24"/>
          <p:cNvSpPr/>
          <p:nvPr/>
        </p:nvSpPr>
        <p:spPr>
          <a:xfrm>
            <a:off x="1645920" y="3419856"/>
            <a:ext cx="1371600" cy="164592"/>
          </a:xfrm>
          <a:prstGeom prst="rect">
            <a:avLst/>
          </a:prstGeom>
          <a:solidFill>
            <a:srgbClr val="FFFFFF"/>
          </a:solidFill>
          <a:ln w="12700">
            <a:solidFill>
              <a:srgbClr val="FFFFFF"/>
            </a:solidFill>
            <a:prstDash val="solid"/>
          </a:ln>
        </p:spPr>
        <p:txBody>
          <a:bodyPr/>
          <a:lstStyle/>
          <a:p>
            <a:endParaRPr lang="en-IN"/>
          </a:p>
        </p:txBody>
      </p:sp>
      <p:sp>
        <p:nvSpPr>
          <p:cNvPr id="25" name="Shape 25"/>
          <p:cNvSpPr/>
          <p:nvPr/>
        </p:nvSpPr>
        <p:spPr>
          <a:xfrm>
            <a:off x="1645920" y="3419856"/>
            <a:ext cx="1261872" cy="164592"/>
          </a:xfrm>
          <a:prstGeom prst="rect">
            <a:avLst/>
          </a:prstGeom>
          <a:solidFill>
            <a:srgbClr val="0F7B84"/>
          </a:solidFill>
          <a:ln w="12700">
            <a:solidFill>
              <a:srgbClr val="0F7B84"/>
            </a:solidFill>
            <a:prstDash val="solid"/>
          </a:ln>
        </p:spPr>
        <p:txBody>
          <a:bodyPr/>
          <a:lstStyle/>
          <a:p>
            <a:endParaRPr lang="en-IN"/>
          </a:p>
        </p:txBody>
      </p:sp>
      <p:sp>
        <p:nvSpPr>
          <p:cNvPr id="26" name="Text 26"/>
          <p:cNvSpPr txBox="1"/>
          <p:nvPr/>
        </p:nvSpPr>
        <p:spPr>
          <a:xfrm>
            <a:off x="3072384" y="3419856"/>
            <a:ext cx="320040" cy="164592"/>
          </a:xfrm>
          <a:prstGeom prst="rect">
            <a:avLst/>
          </a:prstGeom>
          <a:noFill/>
          <a:ln/>
        </p:spPr>
        <p:txBody>
          <a:bodyPr wrap="square" lIns="0" tIns="0" rIns="0" bIns="0" rtlCol="0" anchor="ctr"/>
          <a:lstStyle/>
          <a:p>
            <a:pPr marL="0" indent="0" algn="l">
              <a:buNone/>
            </a:pPr>
            <a:r>
              <a:rPr lang="en-US" sz="1000" b="1" i="0" dirty="0">
                <a:solidFill>
                  <a:srgbClr val="1B2540"/>
                </a:solidFill>
                <a:latin typeface="Calibri" pitchFamily="34" charset="0"/>
                <a:ea typeface="Calibri" pitchFamily="34" charset="-122"/>
                <a:cs typeface="Calibri" pitchFamily="34" charset="-120"/>
              </a:rPr>
              <a:t>92%</a:t>
            </a:r>
            <a:endParaRPr lang="en-US" sz="1000" dirty="0"/>
          </a:p>
        </p:txBody>
      </p:sp>
      <p:sp>
        <p:nvSpPr>
          <p:cNvPr id="27" name="Text 27"/>
          <p:cNvSpPr txBox="1"/>
          <p:nvPr/>
        </p:nvSpPr>
        <p:spPr>
          <a:xfrm>
            <a:off x="594360" y="3703320"/>
            <a:ext cx="1005840" cy="164592"/>
          </a:xfrm>
          <a:prstGeom prst="rect">
            <a:avLst/>
          </a:prstGeom>
          <a:noFill/>
          <a:ln/>
        </p:spPr>
        <p:txBody>
          <a:bodyPr wrap="square" lIns="0" tIns="0" rIns="0" bIns="0" rtlCol="0" anchor="ctr"/>
          <a:lstStyle/>
          <a:p>
            <a:pPr marL="0" indent="0" algn="l">
              <a:buNone/>
            </a:pPr>
            <a:r>
              <a:rPr lang="en-US" sz="1000" b="0" i="0" dirty="0">
                <a:solidFill>
                  <a:srgbClr val="1B2540"/>
                </a:solidFill>
                <a:latin typeface="Calibri" pitchFamily="34" charset="0"/>
                <a:ea typeface="Calibri" pitchFamily="34" charset="-122"/>
                <a:cs typeface="Calibri" pitchFamily="34" charset="-120"/>
              </a:rPr>
              <a:t>Tool</a:t>
            </a:r>
            <a:endParaRPr lang="en-US" sz="1000" dirty="0"/>
          </a:p>
        </p:txBody>
      </p:sp>
      <p:sp>
        <p:nvSpPr>
          <p:cNvPr id="28" name="Shape 28"/>
          <p:cNvSpPr/>
          <p:nvPr/>
        </p:nvSpPr>
        <p:spPr>
          <a:xfrm>
            <a:off x="1645920" y="3703320"/>
            <a:ext cx="1371600" cy="164592"/>
          </a:xfrm>
          <a:prstGeom prst="rect">
            <a:avLst/>
          </a:prstGeom>
          <a:solidFill>
            <a:srgbClr val="FFFFFF"/>
          </a:solidFill>
          <a:ln w="12700">
            <a:solidFill>
              <a:srgbClr val="FFFFFF"/>
            </a:solidFill>
            <a:prstDash val="solid"/>
          </a:ln>
        </p:spPr>
        <p:txBody>
          <a:bodyPr/>
          <a:lstStyle/>
          <a:p>
            <a:endParaRPr lang="en-IN"/>
          </a:p>
        </p:txBody>
      </p:sp>
      <p:sp>
        <p:nvSpPr>
          <p:cNvPr id="29" name="Shape 29"/>
          <p:cNvSpPr/>
          <p:nvPr/>
        </p:nvSpPr>
        <p:spPr>
          <a:xfrm>
            <a:off x="1645920" y="3703320"/>
            <a:ext cx="1179576" cy="164592"/>
          </a:xfrm>
          <a:prstGeom prst="rect">
            <a:avLst/>
          </a:prstGeom>
          <a:solidFill>
            <a:srgbClr val="E85D4F"/>
          </a:solidFill>
          <a:ln w="12700">
            <a:solidFill>
              <a:srgbClr val="E85D4F"/>
            </a:solidFill>
            <a:prstDash val="solid"/>
          </a:ln>
        </p:spPr>
        <p:txBody>
          <a:bodyPr/>
          <a:lstStyle/>
          <a:p>
            <a:endParaRPr lang="en-IN"/>
          </a:p>
        </p:txBody>
      </p:sp>
      <p:sp>
        <p:nvSpPr>
          <p:cNvPr id="30" name="Text 30"/>
          <p:cNvSpPr txBox="1"/>
          <p:nvPr/>
        </p:nvSpPr>
        <p:spPr>
          <a:xfrm>
            <a:off x="3072384" y="3703320"/>
            <a:ext cx="320040" cy="164592"/>
          </a:xfrm>
          <a:prstGeom prst="rect">
            <a:avLst/>
          </a:prstGeom>
          <a:noFill/>
          <a:ln/>
        </p:spPr>
        <p:txBody>
          <a:bodyPr wrap="square" lIns="0" tIns="0" rIns="0" bIns="0" rtlCol="0" anchor="ctr"/>
          <a:lstStyle/>
          <a:p>
            <a:pPr marL="0" indent="0" algn="l">
              <a:buNone/>
            </a:pPr>
            <a:r>
              <a:rPr lang="en-US" sz="1000" b="1" i="0" dirty="0">
                <a:solidFill>
                  <a:srgbClr val="1B2540"/>
                </a:solidFill>
                <a:latin typeface="Calibri" pitchFamily="34" charset="0"/>
                <a:ea typeface="Calibri" pitchFamily="34" charset="-122"/>
                <a:cs typeface="Calibri" pitchFamily="34" charset="-120"/>
              </a:rPr>
              <a:t>86%</a:t>
            </a:r>
            <a:endParaRPr lang="en-US" sz="1000" dirty="0"/>
          </a:p>
        </p:txBody>
      </p:sp>
      <p:sp>
        <p:nvSpPr>
          <p:cNvPr id="31" name="Shape 31"/>
          <p:cNvSpPr/>
          <p:nvPr/>
        </p:nvSpPr>
        <p:spPr>
          <a:xfrm>
            <a:off x="3794760" y="1097280"/>
            <a:ext cx="4892040" cy="3017520"/>
          </a:xfrm>
          <a:prstGeom prst="rect">
            <a:avLst/>
          </a:prstGeom>
          <a:solidFill>
            <a:srgbClr val="FFDDD8"/>
          </a:solidFill>
          <a:ln w="12700">
            <a:solidFill>
              <a:srgbClr val="FFDDD8"/>
            </a:solidFill>
            <a:prstDash val="solid"/>
          </a:ln>
        </p:spPr>
        <p:txBody>
          <a:bodyPr/>
          <a:lstStyle/>
          <a:p>
            <a:endParaRPr lang="en-IN"/>
          </a:p>
        </p:txBody>
      </p:sp>
      <p:sp>
        <p:nvSpPr>
          <p:cNvPr id="32" name="Text 32"/>
          <p:cNvSpPr txBox="1"/>
          <p:nvPr/>
        </p:nvSpPr>
        <p:spPr>
          <a:xfrm>
            <a:off x="3931920" y="1188720"/>
            <a:ext cx="4617720" cy="274320"/>
          </a:xfrm>
          <a:prstGeom prst="rect">
            <a:avLst/>
          </a:prstGeom>
          <a:noFill/>
          <a:ln/>
        </p:spPr>
        <p:txBody>
          <a:bodyPr wrap="square" lIns="0" tIns="0" rIns="0" bIns="0" rtlCol="0" anchor="t"/>
          <a:lstStyle/>
          <a:p>
            <a:pPr marL="0" indent="0" algn="l">
              <a:buNone/>
            </a:pPr>
            <a:r>
              <a:rPr lang="en-US" sz="1400" b="1" i="0" dirty="0">
                <a:solidFill>
                  <a:srgbClr val="0F7B84"/>
                </a:solidFill>
                <a:latin typeface="Georgia" pitchFamily="34" charset="0"/>
                <a:ea typeface="Georgia" pitchFamily="34" charset="-122"/>
                <a:cs typeface="Georgia" pitchFamily="34" charset="-120"/>
              </a:rPr>
              <a:t>Real-time test: object to grasp</a:t>
            </a:r>
            <a:endParaRPr lang="en-US" sz="1400" dirty="0"/>
          </a:p>
        </p:txBody>
      </p:sp>
      <p:sp>
        <p:nvSpPr>
          <p:cNvPr id="33" name="Text 33"/>
          <p:cNvSpPr txBox="1"/>
          <p:nvPr/>
        </p:nvSpPr>
        <p:spPr>
          <a:xfrm>
            <a:off x="4091940" y="1490472"/>
            <a:ext cx="4297680" cy="164592"/>
          </a:xfrm>
          <a:prstGeom prst="rect">
            <a:avLst/>
          </a:prstGeom>
          <a:noFill/>
          <a:ln/>
        </p:spPr>
        <p:txBody>
          <a:bodyPr wrap="square" lIns="0" tIns="0" rIns="0" bIns="0" rtlCol="0" anchor="ctr"/>
          <a:lstStyle/>
          <a:p>
            <a:pPr marL="0" indent="0" algn="l">
              <a:buNone/>
            </a:pPr>
            <a:r>
              <a:rPr lang="en-US" sz="900" b="0" i="1" dirty="0">
                <a:solidFill>
                  <a:srgbClr val="1B2540"/>
                </a:solidFill>
                <a:latin typeface="Calibri" pitchFamily="34" charset="0"/>
                <a:ea typeface="Calibri" pitchFamily="34" charset="-122"/>
                <a:cs typeface="Calibri" pitchFamily="34" charset="-120"/>
              </a:rPr>
              <a:t>What the camera sees</a:t>
            </a:r>
            <a:endParaRPr lang="en-US" sz="900" dirty="0"/>
          </a:p>
        </p:txBody>
      </p:sp>
      <p:sp>
        <p:nvSpPr>
          <p:cNvPr id="34" name="Text 34"/>
          <p:cNvSpPr txBox="1"/>
          <p:nvPr/>
        </p:nvSpPr>
        <p:spPr>
          <a:xfrm>
            <a:off x="4091940" y="2720340"/>
            <a:ext cx="4297680" cy="164592"/>
          </a:xfrm>
          <a:prstGeom prst="rect">
            <a:avLst/>
          </a:prstGeom>
          <a:noFill/>
          <a:ln/>
        </p:spPr>
        <p:txBody>
          <a:bodyPr wrap="square" lIns="0" tIns="0" rIns="0" bIns="0" rtlCol="0" anchor="ctr"/>
          <a:lstStyle/>
          <a:p>
            <a:pPr marL="0" indent="0" algn="l">
              <a:buNone/>
            </a:pPr>
            <a:r>
              <a:rPr lang="en-US" sz="900" b="0" i="1" dirty="0">
                <a:solidFill>
                  <a:srgbClr val="1B2540"/>
                </a:solidFill>
                <a:latin typeface="Calibri" pitchFamily="34" charset="0"/>
                <a:ea typeface="Calibri" pitchFamily="34" charset="-122"/>
                <a:cs typeface="Calibri" pitchFamily="34" charset="-120"/>
              </a:rPr>
              <a:t>How the hand responds</a:t>
            </a:r>
            <a:endParaRPr lang="en-US" sz="900" dirty="0"/>
          </a:p>
        </p:txBody>
      </p:sp>
      <p:pic>
        <p:nvPicPr>
          <p:cNvPr id="35" name="Image 35" descr="Hand camera view of keys"/>
          <p:cNvPicPr>
            <a:picLocks noChangeAspect="1"/>
          </p:cNvPicPr>
          <p:nvPr/>
        </p:nvPicPr>
        <p:blipFill>
          <a:blip r:embed="rId2"/>
          <a:stretch>
            <a:fillRect/>
          </a:stretch>
        </p:blipFill>
        <p:spPr>
          <a:xfrm>
            <a:off x="4091940" y="1673352"/>
            <a:ext cx="1371600" cy="1028700"/>
          </a:xfrm>
          <a:prstGeom prst="rect">
            <a:avLst/>
          </a:prstGeom>
        </p:spPr>
      </p:pic>
      <p:pic>
        <p:nvPicPr>
          <p:cNvPr id="36" name="Image 36" descr="Prosthetic hand grasping keys"/>
          <p:cNvPicPr>
            <a:picLocks noChangeAspect="1"/>
          </p:cNvPicPr>
          <p:nvPr/>
        </p:nvPicPr>
        <p:blipFill>
          <a:blip r:embed="rId3"/>
          <a:srcRect t="1050" b="1050"/>
          <a:stretch>
            <a:fillRect/>
          </a:stretch>
        </p:blipFill>
        <p:spPr>
          <a:xfrm>
            <a:off x="4091940" y="2903220"/>
            <a:ext cx="1371600" cy="1028700"/>
          </a:xfrm>
          <a:prstGeom prst="rect">
            <a:avLst/>
          </a:prstGeom>
        </p:spPr>
      </p:pic>
      <p:sp>
        <p:nvSpPr>
          <p:cNvPr id="37" name="Text 37"/>
          <p:cNvSpPr txBox="1"/>
          <p:nvPr/>
        </p:nvSpPr>
        <p:spPr>
          <a:xfrm>
            <a:off x="4091940" y="3941064"/>
            <a:ext cx="1371600" cy="146304"/>
          </a:xfrm>
          <a:prstGeom prst="rect">
            <a:avLst/>
          </a:prstGeom>
          <a:noFill/>
          <a:ln/>
        </p:spPr>
        <p:txBody>
          <a:bodyPr wrap="square" lIns="0" tIns="0" rIns="0" bIns="0" rtlCol="0" anchor="ctr"/>
          <a:lstStyle/>
          <a:p>
            <a:pPr marL="0" indent="0" algn="ctr">
              <a:buNone/>
            </a:pPr>
            <a:r>
              <a:rPr lang="en-US" sz="900" b="1" i="0" dirty="0">
                <a:solidFill>
                  <a:srgbClr val="0F7B84"/>
                </a:solidFill>
                <a:latin typeface="Calibri" pitchFamily="34" charset="0"/>
                <a:ea typeface="Calibri" pitchFamily="34" charset="-122"/>
                <a:cs typeface="Calibri" pitchFamily="34" charset="-120"/>
              </a:rPr>
              <a:t>Keys</a:t>
            </a:r>
            <a:endParaRPr lang="en-US" sz="900" dirty="0"/>
          </a:p>
        </p:txBody>
      </p:sp>
      <p:pic>
        <p:nvPicPr>
          <p:cNvPr id="38" name="Image 38" descr="Hand camera view of mug"/>
          <p:cNvPicPr>
            <a:picLocks noChangeAspect="1"/>
          </p:cNvPicPr>
          <p:nvPr/>
        </p:nvPicPr>
        <p:blipFill>
          <a:blip r:embed="rId4"/>
          <a:stretch>
            <a:fillRect/>
          </a:stretch>
        </p:blipFill>
        <p:spPr>
          <a:xfrm>
            <a:off x="5554980" y="1673352"/>
            <a:ext cx="1371600" cy="1028700"/>
          </a:xfrm>
          <a:prstGeom prst="rect">
            <a:avLst/>
          </a:prstGeom>
        </p:spPr>
      </p:pic>
      <p:pic>
        <p:nvPicPr>
          <p:cNvPr id="39" name="Image 39" descr="Prosthetic hand grasping mug"/>
          <p:cNvPicPr>
            <a:picLocks noChangeAspect="1"/>
          </p:cNvPicPr>
          <p:nvPr/>
        </p:nvPicPr>
        <p:blipFill>
          <a:blip r:embed="rId5"/>
          <a:srcRect t="1050" b="1050"/>
          <a:stretch>
            <a:fillRect/>
          </a:stretch>
        </p:blipFill>
        <p:spPr>
          <a:xfrm>
            <a:off x="5554980" y="2903220"/>
            <a:ext cx="1371600" cy="1028700"/>
          </a:xfrm>
          <a:prstGeom prst="rect">
            <a:avLst/>
          </a:prstGeom>
        </p:spPr>
      </p:pic>
      <p:sp>
        <p:nvSpPr>
          <p:cNvPr id="40" name="Text 40"/>
          <p:cNvSpPr txBox="1"/>
          <p:nvPr/>
        </p:nvSpPr>
        <p:spPr>
          <a:xfrm>
            <a:off x="5554980" y="3941064"/>
            <a:ext cx="1371600" cy="146304"/>
          </a:xfrm>
          <a:prstGeom prst="rect">
            <a:avLst/>
          </a:prstGeom>
          <a:noFill/>
          <a:ln/>
        </p:spPr>
        <p:txBody>
          <a:bodyPr wrap="square" lIns="0" tIns="0" rIns="0" bIns="0" rtlCol="0" anchor="ctr"/>
          <a:lstStyle/>
          <a:p>
            <a:pPr marL="0" indent="0" algn="ctr">
              <a:buNone/>
            </a:pPr>
            <a:r>
              <a:rPr lang="en-US" sz="900" b="1" i="0" dirty="0">
                <a:solidFill>
                  <a:srgbClr val="0F7B84"/>
                </a:solidFill>
                <a:latin typeface="Calibri" pitchFamily="34" charset="0"/>
                <a:ea typeface="Calibri" pitchFamily="34" charset="-122"/>
                <a:cs typeface="Calibri" pitchFamily="34" charset="-120"/>
              </a:rPr>
              <a:t>Mug</a:t>
            </a:r>
            <a:endParaRPr lang="en-US" sz="900" dirty="0"/>
          </a:p>
        </p:txBody>
      </p:sp>
      <p:pic>
        <p:nvPicPr>
          <p:cNvPr id="41" name="Image 41" descr="Hand camera view of pens"/>
          <p:cNvPicPr>
            <a:picLocks noChangeAspect="1"/>
          </p:cNvPicPr>
          <p:nvPr/>
        </p:nvPicPr>
        <p:blipFill>
          <a:blip r:embed="rId6"/>
          <a:stretch>
            <a:fillRect/>
          </a:stretch>
        </p:blipFill>
        <p:spPr>
          <a:xfrm>
            <a:off x="7018020" y="1673352"/>
            <a:ext cx="1371600" cy="1028700"/>
          </a:xfrm>
          <a:prstGeom prst="rect">
            <a:avLst/>
          </a:prstGeom>
        </p:spPr>
      </p:pic>
      <p:pic>
        <p:nvPicPr>
          <p:cNvPr id="42" name="Image 42" descr="Prosthetic hand grasping pens"/>
          <p:cNvPicPr>
            <a:picLocks noChangeAspect="1"/>
          </p:cNvPicPr>
          <p:nvPr/>
        </p:nvPicPr>
        <p:blipFill>
          <a:blip r:embed="rId7"/>
          <a:srcRect t="1050" b="1050"/>
          <a:stretch>
            <a:fillRect/>
          </a:stretch>
        </p:blipFill>
        <p:spPr>
          <a:xfrm>
            <a:off x="7018020" y="2903220"/>
            <a:ext cx="1371600" cy="1028700"/>
          </a:xfrm>
          <a:prstGeom prst="rect">
            <a:avLst/>
          </a:prstGeom>
        </p:spPr>
      </p:pic>
      <p:sp>
        <p:nvSpPr>
          <p:cNvPr id="43" name="Text 43"/>
          <p:cNvSpPr txBox="1"/>
          <p:nvPr/>
        </p:nvSpPr>
        <p:spPr>
          <a:xfrm>
            <a:off x="7018020" y="3941064"/>
            <a:ext cx="1371600" cy="146304"/>
          </a:xfrm>
          <a:prstGeom prst="rect">
            <a:avLst/>
          </a:prstGeom>
          <a:noFill/>
          <a:ln/>
        </p:spPr>
        <p:txBody>
          <a:bodyPr wrap="square" lIns="0" tIns="0" rIns="0" bIns="0" rtlCol="0" anchor="ctr"/>
          <a:lstStyle/>
          <a:p>
            <a:pPr marL="0" indent="0" algn="ctr">
              <a:buNone/>
            </a:pPr>
            <a:r>
              <a:rPr lang="en-US" sz="900" b="1" i="0" dirty="0">
                <a:solidFill>
                  <a:srgbClr val="0F7B84"/>
                </a:solidFill>
                <a:latin typeface="Calibri" pitchFamily="34" charset="0"/>
                <a:ea typeface="Calibri" pitchFamily="34" charset="-122"/>
                <a:cs typeface="Calibri" pitchFamily="34" charset="-120"/>
              </a:rPr>
              <a:t>Pens</a:t>
            </a:r>
            <a:endParaRPr lang="en-US" sz="900" dirty="0"/>
          </a:p>
        </p:txBody>
      </p:sp>
      <p:sp>
        <p:nvSpPr>
          <p:cNvPr id="44" name="Shape 44"/>
          <p:cNvSpPr/>
          <p:nvPr/>
        </p:nvSpPr>
        <p:spPr>
          <a:xfrm>
            <a:off x="457200" y="4251960"/>
            <a:ext cx="8229600" cy="457200"/>
          </a:xfrm>
          <a:prstGeom prst="rect">
            <a:avLst/>
          </a:prstGeom>
          <a:solidFill>
            <a:srgbClr val="FFFFFF"/>
          </a:solidFill>
          <a:ln w="12700">
            <a:solidFill>
              <a:srgbClr val="FFFFFF"/>
            </a:solidFill>
            <a:prstDash val="solid"/>
          </a:ln>
        </p:spPr>
        <p:txBody>
          <a:bodyPr/>
          <a:lstStyle/>
          <a:p>
            <a:endParaRPr lang="en-IN"/>
          </a:p>
        </p:txBody>
      </p:sp>
      <p:sp>
        <p:nvSpPr>
          <p:cNvPr id="45" name="Text 45"/>
          <p:cNvSpPr txBox="1"/>
          <p:nvPr/>
        </p:nvSpPr>
        <p:spPr>
          <a:xfrm>
            <a:off x="457200" y="4251960"/>
            <a:ext cx="8229600" cy="457200"/>
          </a:xfrm>
          <a:prstGeom prst="rect">
            <a:avLst/>
          </a:prstGeom>
          <a:noFill/>
          <a:ln/>
        </p:spPr>
        <p:txBody>
          <a:bodyPr wrap="square" lIns="0" tIns="0" rIns="0" bIns="0" rtlCol="0" anchor="ctr"/>
          <a:lstStyle/>
          <a:p>
            <a:pPr marL="0" indent="0" algn="ctr">
              <a:buNone/>
            </a:pPr>
            <a:r>
              <a:rPr lang="en-US" sz="1150" b="1" i="0" dirty="0">
                <a:solidFill>
                  <a:srgbClr val="E85D4F"/>
                </a:solidFill>
                <a:latin typeface="Calibri" pitchFamily="34" charset="0"/>
                <a:ea typeface="Calibri" pitchFamily="34" charset="-122"/>
                <a:cs typeface="Calibri" pitchFamily="34" charset="-120"/>
              </a:rPr>
              <a:t>Our design: </a:t>
            </a:r>
            <a:r>
              <a:rPr lang="en-US" sz="1150" b="0" i="0" dirty="0">
                <a:solidFill>
                  <a:srgbClr val="1B2540"/>
                </a:solidFill>
                <a:latin typeface="Calibri" pitchFamily="34" charset="0"/>
                <a:ea typeface="Calibri" pitchFamily="34" charset="-122"/>
                <a:cs typeface="Calibri" pitchFamily="34" charset="-120"/>
              </a:rPr>
              <a:t>ESP32-CAM + YOLOv8 + depth mapping picks the grip. Weakest case: tool grasp (86%), trigger hidden.</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p:bg>
      <p:bgPr>
        <a:solidFill>
          <a:srgbClr val="FFEBE8"/>
        </a:solidFill>
        <a:effectLst/>
      </p:bgPr>
    </p:bg>
    <p:spTree>
      <p:nvGrpSpPr>
        <p:cNvPr id="1" name=""/>
        <p:cNvGrpSpPr/>
        <p:nvPr/>
      </p:nvGrpSpPr>
      <p:grpSpPr>
        <a:xfrm>
          <a:off x="0" y="0"/>
          <a:ext cx="0" cy="0"/>
          <a:chOff x="0" y="0"/>
          <a:chExt cx="0" cy="0"/>
        </a:xfrm>
      </p:grpSpPr>
      <p:sp>
        <p:nvSpPr>
          <p:cNvPr id="2" name="Text 2"/>
          <p:cNvSpPr txBox="1"/>
          <p:nvPr/>
        </p:nvSpPr>
        <p:spPr>
          <a:xfrm>
            <a:off x="457200" y="182880"/>
            <a:ext cx="5486400" cy="228600"/>
          </a:xfrm>
          <a:prstGeom prst="rect">
            <a:avLst/>
          </a:prstGeom>
          <a:noFill/>
          <a:ln/>
        </p:spPr>
        <p:txBody>
          <a:bodyPr wrap="square" lIns="0" tIns="0" rIns="0" bIns="0" rtlCol="0" anchor="ctr"/>
          <a:lstStyle/>
          <a:p>
            <a:pPr marL="0" indent="0" algn="l">
              <a:buNone/>
            </a:pPr>
            <a:r>
              <a:rPr lang="en-US" sz="1100" b="1" i="0" dirty="0" spc="400">
                <a:solidFill>
                  <a:srgbClr val="0F7B84"/>
                </a:solidFill>
                <a:latin typeface="Calibri" pitchFamily="34" charset="0"/>
                <a:ea typeface="Calibri" pitchFamily="34" charset="-122"/>
                <a:cs typeface="Calibri" pitchFamily="34" charset="-120"/>
              </a:rPr>
              <a:t>SECTION 03</a:t>
            </a:r>
            <a:endParaRPr lang="en-US" sz="1100" dirty="0"/>
          </a:p>
        </p:txBody>
      </p:sp>
      <p:sp>
        <p:nvSpPr>
          <p:cNvPr id="3" name="Text 3"/>
          <p:cNvSpPr txBox="1"/>
          <p:nvPr/>
        </p:nvSpPr>
        <p:spPr>
          <a:xfrm>
            <a:off x="457200" y="411480"/>
            <a:ext cx="8229600" cy="548640"/>
          </a:xfrm>
          <a:prstGeom prst="rect">
            <a:avLst/>
          </a:prstGeom>
          <a:noFill/>
          <a:ln/>
        </p:spPr>
        <p:txBody>
          <a:bodyPr wrap="square" lIns="0" tIns="0" rIns="0" bIns="0" rtlCol="0" anchor="ctr"/>
          <a:lstStyle/>
          <a:p>
            <a:pPr marL="0" indent="0" algn="l">
              <a:buNone/>
            </a:pPr>
            <a:r>
              <a:rPr lang="en-US" sz="2400" b="1" i="0" dirty="0">
                <a:solidFill>
                  <a:srgbClr val="0F7B84"/>
                </a:solidFill>
                <a:latin typeface="Georgia" pitchFamily="34" charset="0"/>
                <a:ea typeface="Georgia" pitchFamily="34" charset="-122"/>
                <a:cs typeface="Georgia" pitchFamily="34" charset="-120"/>
              </a:rPr>
              <a:t>Hand Camera: Letting the Hand See</a:t>
            </a:r>
            <a:endParaRPr lang="en-US" sz="2400" dirty="0"/>
          </a:p>
        </p:txBody>
      </p:sp>
      <p:sp>
        <p:nvSpPr>
          <p:cNvPr id="4" name="Text 4"/>
          <p:cNvSpPr txBox="1"/>
          <p:nvPr/>
        </p:nvSpPr>
        <p:spPr>
          <a:xfrm>
            <a:off x="457200" y="4846320"/>
            <a:ext cx="3657600" cy="201168"/>
          </a:xfrm>
          <a:prstGeom prst="rect">
            <a:avLst/>
          </a:prstGeom>
          <a:noFill/>
          <a:ln/>
        </p:spPr>
        <p:txBody>
          <a:bodyPr wrap="square" lIns="0" tIns="0" rIns="0" bIns="0" rtlCol="0" anchor="ctr"/>
          <a:lstStyle/>
          <a:p>
            <a:pPr marL="0" indent="0" algn="l">
              <a:buNone/>
            </a:pPr>
            <a:r>
              <a:rPr lang="en-US" sz="800" b="0" i="0" dirty="0">
                <a:solidFill>
                  <a:srgbClr val="1B2540"/>
                </a:solidFill>
                <a:latin typeface="Calibri" pitchFamily="34" charset="0"/>
                <a:ea typeface="Calibri" pitchFamily="34" charset="-122"/>
                <a:cs typeface="Calibri" pitchFamily="34" charset="-120"/>
              </a:rPr>
              <a:t>THOUGHT-CONTROLLED BIONIC HAND</a:t>
            </a:r>
            <a:endParaRPr lang="en-US" sz="800" dirty="0"/>
          </a:p>
        </p:txBody>
      </p:sp>
      <p:sp>
        <p:nvSpPr>
          <p:cNvPr id="5" name="Text 5"/>
          <p:cNvSpPr txBox="1"/>
          <p:nvPr/>
        </p:nvSpPr>
        <p:spPr>
          <a:xfrm>
            <a:off x="7772400" y="4846320"/>
            <a:ext cx="914400" cy="201168"/>
          </a:xfrm>
          <a:prstGeom prst="rect">
            <a:avLst/>
          </a:prstGeom>
          <a:noFill/>
          <a:ln/>
        </p:spPr>
        <p:txBody>
          <a:bodyPr wrap="square" lIns="0" tIns="0" rIns="0" bIns="0" rtlCol="0" anchor="ctr"/>
          <a:lstStyle/>
          <a:p>
            <a:pPr marL="0" indent="0" algn="r">
              <a:buNone/>
            </a:pPr>
            <a:r>
              <a:rPr lang="en-US" sz="800" b="0" i="0" dirty="0">
                <a:solidFill>
                  <a:srgbClr val="1B2540"/>
                </a:solidFill>
                <a:latin typeface="Calibri" pitchFamily="34" charset="0"/>
                <a:ea typeface="Calibri" pitchFamily="34" charset="-122"/>
                <a:cs typeface="Calibri" pitchFamily="34" charset="-120"/>
              </a:rPr>
              <a:t>05 / 16</a:t>
            </a:r>
            <a:endParaRPr lang="en-US" sz="800" dirty="0"/>
          </a:p>
        </p:txBody>
      </p:sp>
      <p:sp>
        <p:nvSpPr>
          <p:cNvPr id="6" name="Text 6"/>
          <p:cNvSpPr txBox="1"/>
          <p:nvPr/>
        </p:nvSpPr>
        <p:spPr>
          <a:xfrm>
            <a:off x="3931920" y="4846320"/>
            <a:ext cx="3749040" cy="201168"/>
          </a:xfrm>
          <a:prstGeom prst="rect">
            <a:avLst/>
          </a:prstGeom>
          <a:noFill/>
          <a:ln/>
        </p:spPr>
        <p:txBody>
          <a:bodyPr wrap="square" lIns="0" tIns="0" rIns="0" bIns="0" rtlCol="0" anchor="ctr"/>
          <a:lstStyle/>
          <a:p>
            <a:pPr marL="0" indent="0" algn="r">
              <a:buNone/>
            </a:pPr>
            <a:r>
              <a:rPr lang="en-US" sz="750" b="0" i="1" dirty="0">
                <a:solidFill>
                  <a:srgbClr val="1B2540"/>
                </a:solidFill>
                <a:latin typeface="Calibri" pitchFamily="34" charset="0"/>
                <a:ea typeface="Calibri" pitchFamily="34" charset="-122"/>
                <a:cs typeface="Calibri" pitchFamily="34" charset="-120"/>
              </a:rPr>
              <a:t>Photo: DeGol et al., 2016</a:t>
            </a:r>
            <a:endParaRPr lang="en-US" sz="750" dirty="0"/>
          </a:p>
        </p:txBody>
      </p:sp>
      <p:pic>
        <p:nvPicPr>
          <p:cNvPr id="7" name="Image 7" descr="Prosthetic hand with a camera in the palm and an embedded processor"/>
          <p:cNvPicPr>
            <a:picLocks noChangeAspect="1"/>
          </p:cNvPicPr>
          <p:nvPr/>
        </p:nvPicPr>
        <p:blipFill>
          <a:blip r:embed="rId2"/>
          <a:stretch>
            <a:fillRect/>
          </a:stretch>
        </p:blipFill>
        <p:spPr>
          <a:xfrm>
            <a:off x="457200" y="1143000"/>
            <a:ext cx="3566160" cy="2377440"/>
          </a:xfrm>
          <a:prstGeom prst="rect">
            <a:avLst/>
          </a:prstGeom>
        </p:spPr>
      </p:pic>
      <p:sp>
        <p:nvSpPr>
          <p:cNvPr id="8" name="Text 8"/>
          <p:cNvSpPr txBox="1"/>
          <p:nvPr/>
        </p:nvSpPr>
        <p:spPr>
          <a:xfrm>
            <a:off x="457200" y="3575304"/>
            <a:ext cx="3566160" cy="182880"/>
          </a:xfrm>
          <a:prstGeom prst="rect">
            <a:avLst/>
          </a:prstGeom>
          <a:noFill/>
          <a:ln/>
        </p:spPr>
        <p:txBody>
          <a:bodyPr wrap="square" lIns="0" tIns="0" rIns="0" bIns="0" rtlCol="0" anchor="t"/>
          <a:lstStyle/>
          <a:p>
            <a:pPr marL="0" indent="0" algn="l">
              <a:buNone/>
            </a:pPr>
            <a:r>
              <a:rPr lang="en-US" sz="900" b="0" i="1" dirty="0">
                <a:solidFill>
                  <a:srgbClr val="1B2540"/>
                </a:solidFill>
                <a:latin typeface="Calibri" pitchFamily="34" charset="0"/>
                <a:ea typeface="Calibri" pitchFamily="34" charset="-122"/>
                <a:cs typeface="Calibri" pitchFamily="34" charset="-120"/>
              </a:rPr>
              <a:t>Prosthetic hand with a palm camera and a mobile GPU processor</a:t>
            </a:r>
            <a:endParaRPr lang="en-US" sz="900" dirty="0"/>
          </a:p>
        </p:txBody>
      </p:sp>
      <p:sp>
        <p:nvSpPr>
          <p:cNvPr id="9" name="Shape 9"/>
          <p:cNvSpPr/>
          <p:nvPr/>
        </p:nvSpPr>
        <p:spPr>
          <a:xfrm>
            <a:off x="4343400" y="1188720"/>
            <a:ext cx="457200" cy="457200"/>
          </a:xfrm>
          <a:prstGeom prst="ellipse">
            <a:avLst/>
          </a:prstGeom>
          <a:solidFill>
            <a:srgbClr val="E85D4F"/>
          </a:solidFill>
          <a:ln w="12700">
            <a:solidFill>
              <a:srgbClr val="E85D4F"/>
            </a:solidFill>
            <a:prstDash val="solid"/>
          </a:ln>
        </p:spPr>
        <p:txBody>
          <a:bodyPr/>
          <a:lstStyle/>
          <a:p>
            <a:endParaRPr lang="en-IN"/>
          </a:p>
        </p:txBody>
      </p:sp>
      <p:sp>
        <p:nvSpPr>
          <p:cNvPr id="10" name="Text 10"/>
          <p:cNvSpPr txBox="1"/>
          <p:nvPr/>
        </p:nvSpPr>
        <p:spPr>
          <a:xfrm>
            <a:off x="4343400" y="1188720"/>
            <a:ext cx="457200" cy="457200"/>
          </a:xfrm>
          <a:prstGeom prst="rect">
            <a:avLst/>
          </a:prstGeom>
          <a:noFill/>
          <a:ln/>
        </p:spPr>
        <p:txBody>
          <a:bodyPr wrap="square" lIns="0" tIns="0" rIns="0" bIns="0" rtlCol="0" anchor="ctr"/>
          <a:lstStyle/>
          <a:p>
            <a:pPr marL="0" indent="0" algn="ctr">
              <a:buNone/>
            </a:pPr>
            <a:r>
              <a:rPr lang="en-US" sz="1600" b="1" i="0" dirty="0">
                <a:solidFill>
                  <a:srgbClr val="FFFFFF"/>
                </a:solidFill>
                <a:latin typeface="Calibri" pitchFamily="34" charset="0"/>
                <a:ea typeface="Calibri" pitchFamily="34" charset="-122"/>
                <a:cs typeface="Calibri" pitchFamily="34" charset="-120"/>
              </a:rPr>
              <a:t>1</a:t>
            </a:r>
            <a:endParaRPr lang="en-US" sz="1600" dirty="0"/>
          </a:p>
        </p:txBody>
      </p:sp>
      <p:sp>
        <p:nvSpPr>
          <p:cNvPr id="11" name="Text 11"/>
          <p:cNvSpPr txBox="1"/>
          <p:nvPr/>
        </p:nvSpPr>
        <p:spPr>
          <a:xfrm>
            <a:off x="4983480" y="1188720"/>
            <a:ext cx="3703320" cy="274320"/>
          </a:xfrm>
          <a:prstGeom prst="rect">
            <a:avLst/>
          </a:prstGeom>
          <a:noFill/>
          <a:ln/>
        </p:spPr>
        <p:txBody>
          <a:bodyPr wrap="square" lIns="0" tIns="0" rIns="0" bIns="0" rtlCol="0" anchor="t"/>
          <a:lstStyle/>
          <a:p>
            <a:pPr marL="0" indent="0" algn="l">
              <a:buNone/>
            </a:pPr>
            <a:r>
              <a:rPr lang="en-US" sz="1500" b="1" i="0" dirty="0">
                <a:solidFill>
                  <a:srgbClr val="1B2540"/>
                </a:solidFill>
                <a:latin typeface="Georgia" pitchFamily="34" charset="0"/>
                <a:ea typeface="Georgia" pitchFamily="34" charset="-122"/>
                <a:cs typeface="Georgia" pitchFamily="34" charset="-120"/>
              </a:rPr>
              <a:t>Camera in the palm</a:t>
            </a:r>
            <a:endParaRPr lang="en-US" sz="1500" dirty="0"/>
          </a:p>
        </p:txBody>
      </p:sp>
      <p:sp>
        <p:nvSpPr>
          <p:cNvPr id="12" name="Text 12"/>
          <p:cNvSpPr txBox="1"/>
          <p:nvPr/>
        </p:nvSpPr>
        <p:spPr>
          <a:xfrm>
            <a:off x="4983480" y="1499616"/>
            <a:ext cx="3703320" cy="502920"/>
          </a:xfrm>
          <a:prstGeom prst="rect">
            <a:avLst/>
          </a:prstGeom>
          <a:noFill/>
          <a:ln/>
        </p:spPr>
        <p:txBody>
          <a:bodyPr wrap="square" lIns="0" tIns="0" rIns="0" bIns="0" rtlCol="0" anchor="t"/>
          <a:lstStyle/>
          <a:p>
            <a:pPr marL="0" indent="0" algn="l">
              <a:buNone/>
            </a:pPr>
            <a:r>
              <a:rPr lang="en-US" sz="1150" b="0" i="0" dirty="0">
                <a:solidFill>
                  <a:srgbClr val="1B2540"/>
                </a:solidFill>
                <a:latin typeface="Calibri" pitchFamily="34" charset="0"/>
                <a:ea typeface="Calibri" pitchFamily="34" charset="-122"/>
                <a:cs typeface="Calibri" pitchFamily="34" charset="-120"/>
              </a:rPr>
              <a:t>Faces the object the hand is about to grasp. No RFID tags or head-mounted camera needed.</a:t>
            </a:r>
            <a:endParaRPr lang="en-US" sz="1150" dirty="0"/>
          </a:p>
        </p:txBody>
      </p:sp>
      <p:sp>
        <p:nvSpPr>
          <p:cNvPr id="13" name="Shape 13"/>
          <p:cNvSpPr/>
          <p:nvPr/>
        </p:nvSpPr>
        <p:spPr>
          <a:xfrm>
            <a:off x="4343400" y="2121408"/>
            <a:ext cx="457200" cy="457200"/>
          </a:xfrm>
          <a:prstGeom prst="ellipse">
            <a:avLst/>
          </a:prstGeom>
          <a:solidFill>
            <a:srgbClr val="E85D4F"/>
          </a:solidFill>
          <a:ln w="12700">
            <a:solidFill>
              <a:srgbClr val="E85D4F"/>
            </a:solidFill>
            <a:prstDash val="solid"/>
          </a:ln>
        </p:spPr>
        <p:txBody>
          <a:bodyPr/>
          <a:lstStyle/>
          <a:p>
            <a:endParaRPr lang="en-IN"/>
          </a:p>
        </p:txBody>
      </p:sp>
      <p:sp>
        <p:nvSpPr>
          <p:cNvPr id="14" name="Text 14"/>
          <p:cNvSpPr txBox="1"/>
          <p:nvPr/>
        </p:nvSpPr>
        <p:spPr>
          <a:xfrm>
            <a:off x="4343400" y="2121408"/>
            <a:ext cx="457200" cy="457200"/>
          </a:xfrm>
          <a:prstGeom prst="rect">
            <a:avLst/>
          </a:prstGeom>
          <a:noFill/>
          <a:ln/>
        </p:spPr>
        <p:txBody>
          <a:bodyPr wrap="square" lIns="0" tIns="0" rIns="0" bIns="0" rtlCol="0" anchor="ctr"/>
          <a:lstStyle/>
          <a:p>
            <a:pPr marL="0" indent="0" algn="ctr">
              <a:buNone/>
            </a:pPr>
            <a:r>
              <a:rPr lang="en-US" sz="1600" b="1" i="0"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5"/>
          <p:cNvSpPr txBox="1"/>
          <p:nvPr/>
        </p:nvSpPr>
        <p:spPr>
          <a:xfrm>
            <a:off x="4983480" y="2121408"/>
            <a:ext cx="3703320" cy="274320"/>
          </a:xfrm>
          <a:prstGeom prst="rect">
            <a:avLst/>
          </a:prstGeom>
          <a:noFill/>
          <a:ln/>
        </p:spPr>
        <p:txBody>
          <a:bodyPr wrap="square" lIns="0" tIns="0" rIns="0" bIns="0" rtlCol="0" anchor="t"/>
          <a:lstStyle/>
          <a:p>
            <a:pPr marL="0" indent="0" algn="l">
              <a:buNone/>
            </a:pPr>
            <a:r>
              <a:rPr lang="en-US" sz="1500" b="1" i="0" dirty="0">
                <a:solidFill>
                  <a:srgbClr val="1B2540"/>
                </a:solidFill>
                <a:latin typeface="Georgia" pitchFamily="34" charset="0"/>
                <a:ea typeface="Georgia" pitchFamily="34" charset="-122"/>
                <a:cs typeface="Georgia" pitchFamily="34" charset="-120"/>
              </a:rPr>
              <a:t>Image to grip</a:t>
            </a:r>
            <a:endParaRPr lang="en-US" sz="1500" dirty="0"/>
          </a:p>
        </p:txBody>
      </p:sp>
      <p:sp>
        <p:nvSpPr>
          <p:cNvPr id="16" name="Text 16"/>
          <p:cNvSpPr txBox="1"/>
          <p:nvPr/>
        </p:nvSpPr>
        <p:spPr>
          <a:xfrm>
            <a:off x="4983480" y="2432304"/>
            <a:ext cx="3703320" cy="502920"/>
          </a:xfrm>
          <a:prstGeom prst="rect">
            <a:avLst/>
          </a:prstGeom>
          <a:noFill/>
          <a:ln/>
        </p:spPr>
        <p:txBody>
          <a:bodyPr wrap="square" lIns="0" tIns="0" rIns="0" bIns="0" rtlCol="0" anchor="t"/>
          <a:lstStyle/>
          <a:p>
            <a:pPr marL="0" indent="0" algn="l">
              <a:buNone/>
            </a:pPr>
            <a:r>
              <a:rPr lang="en-US" sz="1150" b="0" i="0" dirty="0">
                <a:solidFill>
                  <a:srgbClr val="1B2540"/>
                </a:solidFill>
                <a:latin typeface="Calibri" pitchFamily="34" charset="0"/>
                <a:ea typeface="Calibri" pitchFamily="34" charset="-122"/>
                <a:cs typeface="Calibri" pitchFamily="34" charset="-120"/>
              </a:rPr>
              <a:t>A CNN classifies each image into one of five grasps: power, pinch, tool, 3-jaw chuck or key.</a:t>
            </a:r>
            <a:endParaRPr lang="en-US" sz="1150" dirty="0"/>
          </a:p>
        </p:txBody>
      </p:sp>
      <p:sp>
        <p:nvSpPr>
          <p:cNvPr id="17" name="Shape 17"/>
          <p:cNvSpPr/>
          <p:nvPr/>
        </p:nvSpPr>
        <p:spPr>
          <a:xfrm>
            <a:off x="4343400" y="3054096"/>
            <a:ext cx="457200" cy="457200"/>
          </a:xfrm>
          <a:prstGeom prst="ellipse">
            <a:avLst/>
          </a:prstGeom>
          <a:solidFill>
            <a:srgbClr val="E85D4F"/>
          </a:solidFill>
          <a:ln w="12700">
            <a:solidFill>
              <a:srgbClr val="E85D4F"/>
            </a:solidFill>
            <a:prstDash val="solid"/>
          </a:ln>
        </p:spPr>
        <p:txBody>
          <a:bodyPr/>
          <a:lstStyle/>
          <a:p>
            <a:endParaRPr lang="en-IN"/>
          </a:p>
        </p:txBody>
      </p:sp>
      <p:sp>
        <p:nvSpPr>
          <p:cNvPr id="18" name="Text 18"/>
          <p:cNvSpPr txBox="1"/>
          <p:nvPr/>
        </p:nvSpPr>
        <p:spPr>
          <a:xfrm>
            <a:off x="4343400" y="3054096"/>
            <a:ext cx="457200" cy="457200"/>
          </a:xfrm>
          <a:prstGeom prst="rect">
            <a:avLst/>
          </a:prstGeom>
          <a:noFill/>
          <a:ln/>
        </p:spPr>
        <p:txBody>
          <a:bodyPr wrap="square" lIns="0" tIns="0" rIns="0" bIns="0" rtlCol="0" anchor="ctr"/>
          <a:lstStyle/>
          <a:p>
            <a:pPr marL="0" indent="0" algn="ctr">
              <a:buNone/>
            </a:pPr>
            <a:r>
              <a:rPr lang="en-US" sz="1600" b="1" i="0"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9"/>
          <p:cNvSpPr txBox="1"/>
          <p:nvPr/>
        </p:nvSpPr>
        <p:spPr>
          <a:xfrm>
            <a:off x="4983480" y="3054096"/>
            <a:ext cx="3703320" cy="274320"/>
          </a:xfrm>
          <a:prstGeom prst="rect">
            <a:avLst/>
          </a:prstGeom>
          <a:noFill/>
          <a:ln/>
        </p:spPr>
        <p:txBody>
          <a:bodyPr wrap="square" lIns="0" tIns="0" rIns="0" bIns="0" rtlCol="0" anchor="t"/>
          <a:lstStyle/>
          <a:p>
            <a:pPr marL="0" indent="0" algn="l">
              <a:buNone/>
            </a:pPr>
            <a:r>
              <a:rPr lang="en-US" sz="1500" b="1" i="0" dirty="0">
                <a:solidFill>
                  <a:srgbClr val="1B2540"/>
                </a:solidFill>
                <a:latin typeface="Georgia" pitchFamily="34" charset="0"/>
                <a:ea typeface="Georgia" pitchFamily="34" charset="-122"/>
                <a:cs typeface="Georgia" pitchFamily="34" charset="-120"/>
              </a:rPr>
              <a:t>Vision picks, EMG triggers</a:t>
            </a:r>
            <a:endParaRPr lang="en-US" sz="1500" dirty="0"/>
          </a:p>
        </p:txBody>
      </p:sp>
      <p:sp>
        <p:nvSpPr>
          <p:cNvPr id="20" name="Text 20"/>
          <p:cNvSpPr txBox="1"/>
          <p:nvPr/>
        </p:nvSpPr>
        <p:spPr>
          <a:xfrm>
            <a:off x="4983480" y="3364992"/>
            <a:ext cx="3703320" cy="502920"/>
          </a:xfrm>
          <a:prstGeom prst="rect">
            <a:avLst/>
          </a:prstGeom>
          <a:noFill/>
          <a:ln/>
        </p:spPr>
        <p:txBody>
          <a:bodyPr wrap="square" lIns="0" tIns="0" rIns="0" bIns="0" rtlCol="0" anchor="t"/>
          <a:lstStyle/>
          <a:p>
            <a:pPr marL="0" indent="0" algn="l">
              <a:buNone/>
            </a:pPr>
            <a:r>
              <a:rPr lang="en-US" sz="1150" b="0" i="0" dirty="0">
                <a:solidFill>
                  <a:srgbClr val="1B2540"/>
                </a:solidFill>
                <a:latin typeface="Calibri" pitchFamily="34" charset="0"/>
                <a:ea typeface="Calibri" pitchFamily="34" charset="-122"/>
                <a:cs typeface="Calibri" pitchFamily="34" charset="-120"/>
              </a:rPr>
              <a:t>The camera chooses the grip; muscle signals only open and close. This reduces multi-grasp EMG errors.</a:t>
            </a:r>
            <a:endParaRPr lang="en-US" sz="1150" dirty="0"/>
          </a:p>
        </p:txBody>
      </p:sp>
      <p:sp>
        <p:nvSpPr>
          <p:cNvPr id="21" name="Shape 21"/>
          <p:cNvSpPr/>
          <p:nvPr/>
        </p:nvSpPr>
        <p:spPr>
          <a:xfrm>
            <a:off x="457200" y="4160520"/>
            <a:ext cx="1463040" cy="457200"/>
          </a:xfrm>
          <a:prstGeom prst="rect">
            <a:avLst/>
          </a:prstGeom>
          <a:solidFill>
            <a:srgbClr val="FFFFFF"/>
          </a:solidFill>
          <a:ln w="12700">
            <a:solidFill>
              <a:srgbClr val="FFFFFF"/>
            </a:solidFill>
            <a:prstDash val="solid"/>
          </a:ln>
        </p:spPr>
        <p:txBody>
          <a:bodyPr/>
          <a:lstStyle/>
          <a:p>
            <a:endParaRPr lang="en-IN"/>
          </a:p>
        </p:txBody>
      </p:sp>
      <p:sp>
        <p:nvSpPr>
          <p:cNvPr id="22" name="Text 22"/>
          <p:cNvSpPr txBox="1"/>
          <p:nvPr/>
        </p:nvSpPr>
        <p:spPr>
          <a:xfrm>
            <a:off x="457200" y="4160520"/>
            <a:ext cx="1463040" cy="457200"/>
          </a:xfrm>
          <a:prstGeom prst="rect">
            <a:avLst/>
          </a:prstGeom>
          <a:noFill/>
          <a:ln/>
        </p:spPr>
        <p:txBody>
          <a:bodyPr wrap="square" lIns="0" tIns="0" rIns="0" bIns="0" rtlCol="0" anchor="ctr"/>
          <a:lstStyle/>
          <a:p>
            <a:pPr marL="0" indent="0" algn="ctr">
              <a:buNone/>
            </a:pPr>
            <a:r>
              <a:rPr lang="en-US" sz="1100" b="1" i="0" dirty="0">
                <a:solidFill>
                  <a:srgbClr val="0F7B84"/>
                </a:solidFill>
                <a:latin typeface="Calibri" pitchFamily="34" charset="0"/>
                <a:ea typeface="Calibri" pitchFamily="34" charset="-122"/>
                <a:cs typeface="Calibri" pitchFamily="34" charset="-120"/>
              </a:rPr>
              <a:t>1  Capture</a:t>
            </a:r>
            <a:endParaRPr lang="en-US" sz="1100" dirty="0"/>
          </a:p>
        </p:txBody>
      </p:sp>
      <p:cxnSp>
        <p:nvCxnSpPr>
          <p:cNvPr id="23" name="Arrow 23"/>
          <p:cNvCxnSpPr/>
          <p:nvPr/>
        </p:nvCxnSpPr>
        <p:spPr>
          <a:xfrm>
            <a:off x="1938528" y="4389120"/>
            <a:ext cx="192024" cy="0"/>
          </a:xfrm>
          <a:prstGeom prst="line">
            <a:avLst/>
          </a:prstGeom>
          <a:ln w="19050">
            <a:solidFill>
              <a:srgbClr val="E85D4F"/>
            </a:solidFill>
            <a:tailEnd type="triangle"/>
          </a:ln>
        </p:spPr>
      </p:cxnSp>
      <p:sp>
        <p:nvSpPr>
          <p:cNvPr id="24" name="Shape 24"/>
          <p:cNvSpPr/>
          <p:nvPr/>
        </p:nvSpPr>
        <p:spPr>
          <a:xfrm>
            <a:off x="2148840" y="4160520"/>
            <a:ext cx="1463040" cy="457200"/>
          </a:xfrm>
          <a:prstGeom prst="rect">
            <a:avLst/>
          </a:prstGeom>
          <a:solidFill>
            <a:srgbClr val="FFFFFF"/>
          </a:solidFill>
          <a:ln w="12700">
            <a:solidFill>
              <a:srgbClr val="FFFFFF"/>
            </a:solidFill>
            <a:prstDash val="solid"/>
          </a:ln>
        </p:spPr>
        <p:txBody>
          <a:bodyPr/>
          <a:lstStyle/>
          <a:p>
            <a:endParaRPr lang="en-IN"/>
          </a:p>
        </p:txBody>
      </p:sp>
      <p:sp>
        <p:nvSpPr>
          <p:cNvPr id="25" name="Text 25"/>
          <p:cNvSpPr txBox="1"/>
          <p:nvPr/>
        </p:nvSpPr>
        <p:spPr>
          <a:xfrm>
            <a:off x="2148840" y="4160520"/>
            <a:ext cx="1463040" cy="457200"/>
          </a:xfrm>
          <a:prstGeom prst="rect">
            <a:avLst/>
          </a:prstGeom>
          <a:noFill/>
          <a:ln/>
        </p:spPr>
        <p:txBody>
          <a:bodyPr wrap="square" lIns="0" tIns="0" rIns="0" bIns="0" rtlCol="0" anchor="ctr"/>
          <a:lstStyle/>
          <a:p>
            <a:pPr marL="0" indent="0" algn="ctr">
              <a:buNone/>
            </a:pPr>
            <a:r>
              <a:rPr lang="en-US" sz="1100" b="1" i="0" dirty="0">
                <a:solidFill>
                  <a:srgbClr val="0F7B84"/>
                </a:solidFill>
                <a:latin typeface="Calibri" pitchFamily="34" charset="0"/>
                <a:ea typeface="Calibri" pitchFamily="34" charset="-122"/>
                <a:cs typeface="Calibri" pitchFamily="34" charset="-120"/>
              </a:rPr>
              <a:t>2  Detect</a:t>
            </a:r>
            <a:endParaRPr lang="en-US" sz="1100" dirty="0"/>
          </a:p>
        </p:txBody>
      </p:sp>
      <p:cxnSp>
        <p:nvCxnSpPr>
          <p:cNvPr id="26" name="Arrow 26"/>
          <p:cNvCxnSpPr/>
          <p:nvPr/>
        </p:nvCxnSpPr>
        <p:spPr>
          <a:xfrm>
            <a:off x="3630168" y="4389120"/>
            <a:ext cx="192024" cy="0"/>
          </a:xfrm>
          <a:prstGeom prst="line">
            <a:avLst/>
          </a:prstGeom>
          <a:ln w="19050">
            <a:solidFill>
              <a:srgbClr val="E85D4F"/>
            </a:solidFill>
            <a:tailEnd type="triangle"/>
          </a:ln>
        </p:spPr>
      </p:cxnSp>
      <p:sp>
        <p:nvSpPr>
          <p:cNvPr id="27" name="Shape 27"/>
          <p:cNvSpPr/>
          <p:nvPr/>
        </p:nvSpPr>
        <p:spPr>
          <a:xfrm>
            <a:off x="3840480" y="4160520"/>
            <a:ext cx="1463040" cy="457200"/>
          </a:xfrm>
          <a:prstGeom prst="rect">
            <a:avLst/>
          </a:prstGeom>
          <a:solidFill>
            <a:srgbClr val="FFFFFF"/>
          </a:solidFill>
          <a:ln w="12700">
            <a:solidFill>
              <a:srgbClr val="FFFFFF"/>
            </a:solidFill>
            <a:prstDash val="solid"/>
          </a:ln>
        </p:spPr>
        <p:txBody>
          <a:bodyPr/>
          <a:lstStyle/>
          <a:p>
            <a:endParaRPr lang="en-IN"/>
          </a:p>
        </p:txBody>
      </p:sp>
      <p:sp>
        <p:nvSpPr>
          <p:cNvPr id="28" name="Text 28"/>
          <p:cNvSpPr txBox="1"/>
          <p:nvPr/>
        </p:nvSpPr>
        <p:spPr>
          <a:xfrm>
            <a:off x="3840480" y="4160520"/>
            <a:ext cx="1463040" cy="457200"/>
          </a:xfrm>
          <a:prstGeom prst="rect">
            <a:avLst/>
          </a:prstGeom>
          <a:noFill/>
          <a:ln/>
        </p:spPr>
        <p:txBody>
          <a:bodyPr wrap="square" lIns="0" tIns="0" rIns="0" bIns="0" rtlCol="0" anchor="ctr"/>
          <a:lstStyle/>
          <a:p>
            <a:pPr marL="0" indent="0" algn="ctr">
              <a:buNone/>
            </a:pPr>
            <a:r>
              <a:rPr lang="en-US" sz="1100" b="1" i="0" dirty="0">
                <a:solidFill>
                  <a:srgbClr val="0F7B84"/>
                </a:solidFill>
                <a:latin typeface="Calibri" pitchFamily="34" charset="0"/>
                <a:ea typeface="Calibri" pitchFamily="34" charset="-122"/>
                <a:cs typeface="Calibri" pitchFamily="34" charset="-120"/>
              </a:rPr>
              <a:t>3  Depth</a:t>
            </a:r>
            <a:endParaRPr lang="en-US" sz="1100" dirty="0"/>
          </a:p>
        </p:txBody>
      </p:sp>
      <p:cxnSp>
        <p:nvCxnSpPr>
          <p:cNvPr id="29" name="Arrow 29"/>
          <p:cNvCxnSpPr/>
          <p:nvPr/>
        </p:nvCxnSpPr>
        <p:spPr>
          <a:xfrm>
            <a:off x="5321808" y="4389120"/>
            <a:ext cx="192024" cy="0"/>
          </a:xfrm>
          <a:prstGeom prst="line">
            <a:avLst/>
          </a:prstGeom>
          <a:ln w="19050">
            <a:solidFill>
              <a:srgbClr val="E85D4F"/>
            </a:solidFill>
            <a:tailEnd type="triangle"/>
          </a:ln>
        </p:spPr>
      </p:cxnSp>
      <p:sp>
        <p:nvSpPr>
          <p:cNvPr id="30" name="Shape 30"/>
          <p:cNvSpPr/>
          <p:nvPr/>
        </p:nvSpPr>
        <p:spPr>
          <a:xfrm>
            <a:off x="5532120" y="4160520"/>
            <a:ext cx="1463040" cy="457200"/>
          </a:xfrm>
          <a:prstGeom prst="rect">
            <a:avLst/>
          </a:prstGeom>
          <a:solidFill>
            <a:srgbClr val="E85D4F"/>
          </a:solidFill>
          <a:ln w="12700">
            <a:solidFill>
              <a:srgbClr val="E85D4F"/>
            </a:solidFill>
            <a:prstDash val="solid"/>
          </a:ln>
        </p:spPr>
        <p:txBody>
          <a:bodyPr/>
          <a:lstStyle/>
          <a:p>
            <a:endParaRPr lang="en-IN"/>
          </a:p>
        </p:txBody>
      </p:sp>
      <p:sp>
        <p:nvSpPr>
          <p:cNvPr id="31" name="Text 31"/>
          <p:cNvSpPr txBox="1"/>
          <p:nvPr/>
        </p:nvSpPr>
        <p:spPr>
          <a:xfrm>
            <a:off x="5532120" y="4160520"/>
            <a:ext cx="1463040" cy="457200"/>
          </a:xfrm>
          <a:prstGeom prst="rect">
            <a:avLst/>
          </a:prstGeom>
          <a:noFill/>
          <a:ln/>
        </p:spPr>
        <p:txBody>
          <a:bodyPr wrap="square" lIns="0" tIns="0" rIns="0" bIns="0" rtlCol="0" anchor="ctr"/>
          <a:lstStyle/>
          <a:p>
            <a:pPr marL="0" indent="0" algn="ctr">
              <a:buNone/>
            </a:pPr>
            <a:r>
              <a:rPr lang="en-US" sz="1100" b="1" i="0" dirty="0">
                <a:solidFill>
                  <a:srgbClr val="FFFFFF"/>
                </a:solidFill>
                <a:latin typeface="Calibri" pitchFamily="34" charset="0"/>
                <a:ea typeface="Calibri" pitchFamily="34" charset="-122"/>
                <a:cs typeface="Calibri" pitchFamily="34" charset="-120"/>
              </a:rPr>
              <a:t>4  Select grip</a:t>
            </a:r>
            <a:endParaRPr lang="en-US" sz="1100" dirty="0"/>
          </a:p>
        </p:txBody>
      </p:sp>
      <p:cxnSp>
        <p:nvCxnSpPr>
          <p:cNvPr id="32" name="Arrow 32"/>
          <p:cNvCxnSpPr/>
          <p:nvPr/>
        </p:nvCxnSpPr>
        <p:spPr>
          <a:xfrm>
            <a:off x="7013448" y="4389120"/>
            <a:ext cx="192024" cy="0"/>
          </a:xfrm>
          <a:prstGeom prst="line">
            <a:avLst/>
          </a:prstGeom>
          <a:ln w="19050">
            <a:solidFill>
              <a:srgbClr val="E85D4F"/>
            </a:solidFill>
            <a:tailEnd type="triangle"/>
          </a:ln>
        </p:spPr>
      </p:cxnSp>
      <p:sp>
        <p:nvSpPr>
          <p:cNvPr id="33" name="Shape 33"/>
          <p:cNvSpPr/>
          <p:nvPr/>
        </p:nvSpPr>
        <p:spPr>
          <a:xfrm>
            <a:off x="7223760" y="4160520"/>
            <a:ext cx="1463040" cy="457200"/>
          </a:xfrm>
          <a:prstGeom prst="rect">
            <a:avLst/>
          </a:prstGeom>
          <a:solidFill>
            <a:srgbClr val="FFFFFF"/>
          </a:solidFill>
          <a:ln w="12700">
            <a:solidFill>
              <a:srgbClr val="FFFFFF"/>
            </a:solidFill>
            <a:prstDash val="solid"/>
          </a:ln>
        </p:spPr>
        <p:txBody>
          <a:bodyPr/>
          <a:lstStyle/>
          <a:p>
            <a:endParaRPr lang="en-IN"/>
          </a:p>
        </p:txBody>
      </p:sp>
      <p:sp>
        <p:nvSpPr>
          <p:cNvPr id="34" name="Text 34"/>
          <p:cNvSpPr txBox="1"/>
          <p:nvPr/>
        </p:nvSpPr>
        <p:spPr>
          <a:xfrm>
            <a:off x="7223760" y="4160520"/>
            <a:ext cx="1463040" cy="457200"/>
          </a:xfrm>
          <a:prstGeom prst="rect">
            <a:avLst/>
          </a:prstGeom>
          <a:noFill/>
          <a:ln/>
        </p:spPr>
        <p:txBody>
          <a:bodyPr wrap="square" lIns="0" tIns="0" rIns="0" bIns="0" rtlCol="0" anchor="ctr"/>
          <a:lstStyle/>
          <a:p>
            <a:pPr marL="0" indent="0" algn="ctr">
              <a:buNone/>
            </a:pPr>
            <a:r>
              <a:rPr lang="en-US" sz="1100" b="1" i="0" dirty="0">
                <a:solidFill>
                  <a:srgbClr val="0F7B84"/>
                </a:solidFill>
                <a:latin typeface="Calibri" pitchFamily="34" charset="0"/>
                <a:ea typeface="Calibri" pitchFamily="34" charset="-122"/>
                <a:cs typeface="Calibri" pitchFamily="34" charset="-120"/>
              </a:rPr>
              <a:t>5  Actuate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567</Words>
  <Application>Microsoft Office PowerPoint</Application>
  <PresentationFormat>On-screen Show (16:9)</PresentationFormat>
  <Paragraphs>102</Paragraphs>
  <Slides>14</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Cambria Math</vt:lpstr>
      <vt:lpstr>Georgia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Pavan Kumar</cp:lastModifiedBy>
  <cp:revision>7</cp:revision>
  <dcterms:created xsi:type="dcterms:W3CDTF">2026-09-28T06:41:25Z</dcterms:created>
  <dcterms:modified xsi:type="dcterms:W3CDTF">2026-09-30T09:14:28Z</dcterms:modified>
</cp:coreProperties>
</file>